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Let the title breathe for a moment before speaking. Introduce yourself briefly,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audience feel the exhilaration honestly before you take it away. Don't undercut this slide — it's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Deliver the list plainly, almost clinically — let the pattern speak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SDD framework exists to solve one of these four. Name-drop BMAD, Kiro, EARS here to set up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line clearly: tactic vs. discipline. This reframe carries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frameworks arrived at the same insight independently. That convergence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the point: a markdown file sitting outside the systems your org actually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wasted-token prose persona with a compact rules block. Read the 'result objects'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three-stage progression is the spine of the whole talk. Callback it on slides 22 and repeatedly.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thesis of the middle third of the talk. Let each property land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Drive home the moment the agent working from the isolated file has nothing to connect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Pause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'can read' from 'can rely on' clearly — this is the setup for the transformer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is not RAG. You are transforming, not searching.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demo here — say so explicitly. This is the conceptual bridge to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pipeline, different endpoints — no new island, no parallel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Emphasize the validation script catching what a markdown doc would have let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Pause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you ship an API with no tests? Land this rhetorically.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TDD to EDD one-to-one — the audience already trusts TDD, so this framing does the work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protection is the practical payoff — when you swap a model or change a prompt, the suite tells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the through-line from slide 9. Say it plainly: hopes to rules 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as a designed outcome, not a feeling from a good demo — land the closing quote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catch moment is the emotional peak of the talk — let it sit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good place to pause for questions before the pivot into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signal this is the provocative closing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question sit in silence for a beat before moving to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provocative proposal — deliver confidently, it's meant to spark debate in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section with the reflective question, not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pressure close — availability, not a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Let the final line land,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during Q&amp;A, not part of the main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image" Target="../media/image-14-7.png"/><Relationship Id="rId8" Type="http://schemas.openxmlformats.org/officeDocument/2006/relationships/image" Target="../media/image-14-8.svg"/><Relationship Id="rId9" Type="http://schemas.openxmlformats.org/officeDocument/2006/relationships/image" Target="../media/image-14-9.png"/><Relationship Id="rId10" Type="http://schemas.openxmlformats.org/officeDocument/2006/relationships/image" Target="../media/image-14-10.svg"/><Relationship Id="rId11" Type="http://schemas.openxmlformats.org/officeDocument/2006/relationships/image" Target="../media/image-14-11.png"/><Relationship Id="rId12" Type="http://schemas.openxmlformats.org/officeDocument/2006/relationships/image" Target="../media/image-14-12.svg"/><Relationship Id="rId13" Type="http://schemas.openxmlformats.org/officeDocument/2006/relationships/image" Target="../media/image-14-13.png"/><Relationship Id="rId14" Type="http://schemas.openxmlformats.org/officeDocument/2006/relationships/image" Target="../media/image-14-14.svg"/><Relationship Id="rId15" Type="http://schemas.openxmlformats.org/officeDocument/2006/relationships/image" Target="../media/image-14-15.png"/><Relationship Id="rId16" Type="http://schemas.openxmlformats.org/officeDocument/2006/relationships/image" Target="../media/image-14-16.svg"/><Relationship Id="rId17" Type="http://schemas.openxmlformats.org/officeDocument/2006/relationships/image" Target="../media/image-14-17.png"/><Relationship Id="rId18" Type="http://schemas.openxmlformats.org/officeDocument/2006/relationships/image" Target="../media/image-14-18.svg"/><Relationship Id="rId19" Type="http://schemas.openxmlformats.org/officeDocument/2006/relationships/slideLayout" Target="../slideLayouts/slideLayout1.xml"/><Relationship Id="rId2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image" Target="../media/image-21-7.png"/><Relationship Id="rId8" Type="http://schemas.openxmlformats.org/officeDocument/2006/relationships/image" Target="../media/image-21-8.svg"/><Relationship Id="rId9" Type="http://schemas.openxmlformats.org/officeDocument/2006/relationships/image" Target="../media/image-21-9.png"/><Relationship Id="rId10" Type="http://schemas.openxmlformats.org/officeDocument/2006/relationships/image" Target="../media/image-21-10.svg"/><Relationship Id="rId11" Type="http://schemas.openxmlformats.org/officeDocument/2006/relationships/image" Target="../media/image-21-11.png"/><Relationship Id="rId12" Type="http://schemas.openxmlformats.org/officeDocument/2006/relationships/image" Target="../media/image-21-12.svg"/><Relationship Id="rId13" Type="http://schemas.openxmlformats.org/officeDocument/2006/relationships/image" Target="../media/image-21-13.png"/><Relationship Id="rId14" Type="http://schemas.openxmlformats.org/officeDocument/2006/relationships/image" Target="../media/image-21-14.svg"/><Relationship Id="rId15" Type="http://schemas.openxmlformats.org/officeDocument/2006/relationships/slideLayout" Target="../slideLayouts/slideLayout1.xml"/><Relationship Id="rId1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5000"/>
          </a:blip>
          <a:stretch>
            <a:fillRect/>
          </a:stretch>
        </p:blipFill>
        <p:spPr>
          <a:xfrm>
            <a:off x="8258547" y="2111127"/>
            <a:ext cx="1770831" cy="533400"/>
          </a:xfrm>
          <a:prstGeom prst="rect">
            <a:avLst/>
          </a:prstGeom>
        </p:spPr>
      </p:pic>
      <p:sp>
        <p:nvSpPr>
          <p:cNvPr id="3" name="Text 0"/>
          <p:cNvSpPr/>
          <p:nvPr/>
        </p:nvSpPr>
        <p:spPr>
          <a:xfrm>
            <a:off x="7540533" y="3330327"/>
            <a:ext cx="3206934"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CONFERENCE SESSION</a:t>
            </a:r>
            <a:endParaRPr lang="en-US" sz="1800" dirty="0"/>
          </a:p>
        </p:txBody>
      </p:sp>
      <p:sp>
        <p:nvSpPr>
          <p:cNvPr id="4" name="Text 1"/>
          <p:cNvSpPr/>
          <p:nvPr/>
        </p:nvSpPr>
        <p:spPr>
          <a:xfrm>
            <a:off x="3441375" y="3882777"/>
            <a:ext cx="11405250" cy="1062186"/>
          </a:xfrm>
          <a:prstGeom prst="rect">
            <a:avLst/>
          </a:prstGeom>
          <a:noFill/>
          <a:ln/>
        </p:spPr>
        <p:txBody>
          <a:bodyPr wrap="square" lIns="25400" tIns="25400" rIns="25400" bIns="25400" rtlCol="0" anchor="t">
            <a:normAutofit/>
          </a:bodyPr>
          <a:lstStyle/>
          <a:p>
            <a:pPr algn="ctr" indent="0" marL="0">
              <a:lnSpc>
                <a:spcPct val="97303"/>
              </a:lnSpc>
              <a:buNone/>
            </a:pPr>
            <a:r>
              <a:rPr lang="en-US" sz="7200" b="1" spc="-72" kern="0" dirty="0">
                <a:solidFill>
                  <a:srgbClr val="FFFFFF"/>
                </a:solidFill>
                <a:latin typeface="Arial" pitchFamily="34" charset="0"/>
                <a:ea typeface="Arial" pitchFamily="34" charset="-122"/>
                <a:cs typeface="Arial" pitchFamily="34" charset="-120"/>
              </a:rPr>
              <a:t>Vibes Aren't a Strategy</a:t>
            </a:r>
            <a:endParaRPr lang="en-US" sz="7200" dirty="0"/>
          </a:p>
        </p:txBody>
      </p:sp>
      <p:sp>
        <p:nvSpPr>
          <p:cNvPr id="5" name="Text 2"/>
          <p:cNvSpPr/>
          <p:nvPr/>
        </p:nvSpPr>
        <p:spPr>
          <a:xfrm>
            <a:off x="4206891" y="5097363"/>
            <a:ext cx="9874143" cy="678135"/>
          </a:xfrm>
          <a:prstGeom prst="rect">
            <a:avLst/>
          </a:prstGeom>
          <a:noFill/>
          <a:ln/>
        </p:spPr>
        <p:txBody>
          <a:bodyPr wrap="square" lIns="25400" tIns="25400" rIns="25400" bIns="25400" rtlCol="0" anchor="t">
            <a:normAutofit/>
          </a:bodyPr>
          <a:lstStyle/>
          <a:p>
            <a:pPr algn="ctr" indent="0" marL="0">
              <a:lnSpc>
                <a:spcPct val="97391"/>
              </a:lnSpc>
              <a:buNone/>
            </a:pPr>
            <a:r>
              <a:rPr lang="en-US" sz="4500" spc="-45" kern="0" dirty="0">
                <a:solidFill>
                  <a:srgbClr val="AEC0CE"/>
                </a:solidFill>
                <a:latin typeface="Arial" pitchFamily="34" charset="0"/>
                <a:ea typeface="Arial" pitchFamily="34" charset="-122"/>
                <a:cs typeface="Arial" pitchFamily="34" charset="-120"/>
              </a:rPr>
              <a:t>Engineering Context in the Age of AI</a:t>
            </a:r>
            <a:endParaRPr lang="en-US" sz="4500" dirty="0"/>
          </a:p>
        </p:txBody>
      </p:sp>
      <p:sp>
        <p:nvSpPr>
          <p:cNvPr id="6" name="Text 3"/>
          <p:cNvSpPr/>
          <p:nvPr/>
        </p:nvSpPr>
        <p:spPr>
          <a:xfrm>
            <a:off x="6218653" y="6270799"/>
            <a:ext cx="5850620"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spc="36" kern="0" dirty="0">
                <a:solidFill>
                  <a:srgbClr val="4597D3"/>
                </a:solidFill>
                <a:latin typeface="Arial" pitchFamily="34" charset="0"/>
                <a:ea typeface="Arial" pitchFamily="34" charset="-122"/>
                <a:cs typeface="Arial" pitchFamily="34" charset="-120"/>
              </a:rPr>
              <a:t>Vibe Coding </a:t>
            </a:r>
            <a:pPr algn="ctr" indent="0" marL="0">
              <a:lnSpc>
                <a:spcPct val="130909"/>
              </a:lnSpc>
              <a:buNone/>
            </a:pPr>
            <a:r>
              <a:rPr lang="en-US" sz="1800" spc="36" kern="0" dirty="0">
                <a:solidFill>
                  <a:srgbClr val="6F8393"/>
                </a:solidFill>
                <a:latin typeface="Arial" pitchFamily="34" charset="0"/>
                <a:ea typeface="Arial" pitchFamily="34" charset="-122"/>
                <a:cs typeface="Arial" pitchFamily="34" charset="-120"/>
              </a:rPr>
              <a:t>→ </a:t>
            </a:r>
            <a:pPr algn="ctr" indent="0" marL="0">
              <a:lnSpc>
                <a:spcPct val="130909"/>
              </a:lnSpc>
              <a:buNone/>
            </a:pPr>
            <a:r>
              <a:rPr lang="en-US" sz="1800" spc="36" kern="0" dirty="0">
                <a:solidFill>
                  <a:srgbClr val="4597D3"/>
                </a:solidFill>
                <a:latin typeface="Arial" pitchFamily="34" charset="0"/>
                <a:ea typeface="Arial" pitchFamily="34" charset="-122"/>
                <a:cs typeface="Arial" pitchFamily="34" charset="-120"/>
              </a:rPr>
              <a:t>SDD </a:t>
            </a:r>
            <a:pPr algn="ctr" indent="0" marL="0">
              <a:lnSpc>
                <a:spcPct val="130909"/>
              </a:lnSpc>
              <a:buNone/>
            </a:pPr>
            <a:r>
              <a:rPr lang="en-US" sz="1800" spc="36" kern="0" dirty="0">
                <a:solidFill>
                  <a:srgbClr val="6F8393"/>
                </a:solidFill>
                <a:latin typeface="Arial" pitchFamily="34" charset="0"/>
                <a:ea typeface="Arial" pitchFamily="34" charset="-122"/>
                <a:cs typeface="Arial" pitchFamily="34" charset="-120"/>
              </a:rPr>
              <a:t>→ </a:t>
            </a:r>
            <a:pPr algn="ctr" indent="0" marL="0">
              <a:lnSpc>
                <a:spcPct val="130909"/>
              </a:lnSpc>
              <a:buNone/>
            </a:pPr>
            <a:r>
              <a:rPr lang="en-US" sz="1800" spc="36" kern="0" dirty="0">
                <a:solidFill>
                  <a:srgbClr val="4597D3"/>
                </a:solidFill>
                <a:latin typeface="Arial" pitchFamily="34" charset="0"/>
                <a:ea typeface="Arial" pitchFamily="34" charset="-122"/>
                <a:cs typeface="Arial" pitchFamily="34" charset="-120"/>
              </a:rPr>
              <a:t>Living Context </a:t>
            </a:r>
            <a:pPr algn="ctr" indent="0" marL="0">
              <a:lnSpc>
                <a:spcPct val="130909"/>
              </a:lnSpc>
              <a:buNone/>
            </a:pPr>
            <a:r>
              <a:rPr lang="en-US" sz="1800" spc="36" kern="0" dirty="0">
                <a:solidFill>
                  <a:srgbClr val="6F8393"/>
                </a:solidFill>
                <a:latin typeface="Arial" pitchFamily="34" charset="0"/>
                <a:ea typeface="Arial" pitchFamily="34" charset="-122"/>
                <a:cs typeface="Arial" pitchFamily="34" charset="-120"/>
              </a:rPr>
              <a:t>→ </a:t>
            </a:r>
            <a:pPr algn="ctr" indent="0" marL="0">
              <a:lnSpc>
                <a:spcPct val="130909"/>
              </a:lnSpc>
              <a:buNone/>
            </a:pPr>
            <a:r>
              <a:rPr lang="en-US" sz="1800" spc="36" kern="0" dirty="0">
                <a:solidFill>
                  <a:srgbClr val="4597D3"/>
                </a:solidFill>
                <a:latin typeface="Arial" pitchFamily="34" charset="0"/>
                <a:ea typeface="Arial" pitchFamily="34" charset="-122"/>
                <a:cs typeface="Arial" pitchFamily="34" charset="-120"/>
              </a:rPr>
              <a:t>EDD</a:t>
            </a:r>
            <a:endParaRPr lang="en-US" sz="1800" dirty="0"/>
          </a:p>
        </p:txBody>
      </p:sp>
      <p:sp>
        <p:nvSpPr>
          <p:cNvPr id="7" name="Text 4"/>
          <p:cNvSpPr/>
          <p:nvPr/>
        </p:nvSpPr>
        <p:spPr>
          <a:xfrm>
            <a:off x="5462308" y="7375699"/>
            <a:ext cx="7363309" cy="409575"/>
          </a:xfrm>
          <a:prstGeom prst="rect">
            <a:avLst/>
          </a:prstGeom>
          <a:noFill/>
          <a:ln/>
        </p:spPr>
        <p:txBody>
          <a:bodyPr wrap="square" lIns="25400" tIns="25400" rIns="25400" bIns="25400" rtlCol="0" anchor="t">
            <a:normAutofit/>
          </a:bodyPr>
          <a:lstStyle/>
          <a:p>
            <a:pPr algn="ctr" indent="0" marL="0">
              <a:lnSpc>
                <a:spcPct val="130000"/>
              </a:lnSpc>
              <a:buNone/>
            </a:pPr>
            <a:r>
              <a:rPr lang="en-US" sz="1950" b="1" dirty="0">
                <a:solidFill>
                  <a:srgbClr val="FFFFFF"/>
                </a:solidFill>
                <a:latin typeface="Arial" pitchFamily="34" charset="0"/>
                <a:ea typeface="Arial" pitchFamily="34" charset="-122"/>
                <a:cs typeface="Arial" pitchFamily="34" charset="-120"/>
              </a:rPr>
              <a:t>Tim Rayburn</a:t>
            </a:r>
            <a:endParaRPr lang="en-US" sz="1950" dirty="0"/>
          </a:p>
        </p:txBody>
      </p:sp>
      <p:sp>
        <p:nvSpPr>
          <p:cNvPr id="8" name="Text 5"/>
          <p:cNvSpPr/>
          <p:nvPr/>
        </p:nvSpPr>
        <p:spPr>
          <a:xfrm>
            <a:off x="5462308" y="7804324"/>
            <a:ext cx="7363309" cy="409575"/>
          </a:xfrm>
          <a:prstGeom prst="rect">
            <a:avLst/>
          </a:prstGeom>
          <a:noFill/>
          <a:ln/>
        </p:spPr>
        <p:txBody>
          <a:bodyPr wrap="square" lIns="25400" tIns="25400" rIns="25400" bIns="25400" rtlCol="0" anchor="t">
            <a:normAutofit/>
          </a:bodyPr>
          <a:lstStyle/>
          <a:p>
            <a:pPr algn="ctr" indent="0" marL="0">
              <a:lnSpc>
                <a:spcPct val="130000"/>
              </a:lnSpc>
              <a:buNone/>
            </a:pPr>
            <a:r>
              <a:rPr lang="en-US" sz="1950" dirty="0">
                <a:solidFill>
                  <a:srgbClr val="AEC0CE"/>
                </a:solidFill>
                <a:latin typeface="Arial" pitchFamily="34" charset="0"/>
                <a:ea typeface="Arial" pitchFamily="34" charset="-122"/>
                <a:cs typeface="Arial" pitchFamily="34" charset="-120"/>
              </a:rPr>
              <a:t>Global Head of AI Training, Improving · 11-time Microsoft MVP</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114675"/>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SETUP</a:t>
            </a:r>
            <a:endParaRPr lang="en-US" sz="1800" dirty="0"/>
          </a:p>
        </p:txBody>
      </p:sp>
      <p:sp>
        <p:nvSpPr>
          <p:cNvPr id="3" name="Text 1"/>
          <p:cNvSpPr/>
          <p:nvPr/>
        </p:nvSpPr>
        <p:spPr>
          <a:xfrm>
            <a:off x="1047750" y="3819525"/>
            <a:ext cx="157162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Vibe Coding Is Magic</a:t>
            </a:r>
            <a:endParaRPr lang="en-US" sz="4500" dirty="0"/>
          </a:p>
        </p:txBody>
      </p:sp>
      <p:sp>
        <p:nvSpPr>
          <p:cNvPr id="4" name="Text 2"/>
          <p:cNvSpPr/>
          <p:nvPr/>
        </p:nvSpPr>
        <p:spPr>
          <a:xfrm>
            <a:off x="1047750" y="4992960"/>
            <a:ext cx="17811750" cy="4667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FFFFFF"/>
                </a:solidFill>
                <a:latin typeface="Arial" pitchFamily="34" charset="0"/>
                <a:ea typeface="Arial" pitchFamily="34" charset="-122"/>
                <a:cs typeface="Arial" pitchFamily="34" charset="-120"/>
              </a:rPr>
              <a:t>Describe a feature. AI generates code. It looks like magic.</a:t>
            </a:r>
            <a:endParaRPr lang="en-US" sz="2250" dirty="0"/>
          </a:p>
        </p:txBody>
      </p:sp>
      <p:sp>
        <p:nvSpPr>
          <p:cNvPr id="5" name="Text 3"/>
          <p:cNvSpPr/>
          <p:nvPr/>
        </p:nvSpPr>
        <p:spPr>
          <a:xfrm>
            <a:off x="1047750" y="5573985"/>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For a demo. For a prototype. For a greenfield project. It's genuinely exhilarating.</a:t>
            </a:r>
            <a:endParaRPr lang="en-US" sz="1800" dirty="0"/>
          </a:p>
        </p:txBody>
      </p:sp>
      <p:sp>
        <p:nvSpPr>
          <p:cNvPr id="6" name="Text 4"/>
          <p:cNvSpPr/>
          <p:nvPr/>
        </p:nvSpPr>
        <p:spPr>
          <a:xfrm>
            <a:off x="1047750" y="6755085"/>
            <a:ext cx="15716250" cy="607665"/>
          </a:xfrm>
          <a:prstGeom prst="rect">
            <a:avLst/>
          </a:prstGeom>
          <a:noFill/>
          <a:ln/>
        </p:spPr>
        <p:txBody>
          <a:bodyPr wrap="square" lIns="25400" tIns="25400" rIns="25400" bIns="25400" rtlCol="0" anchor="t">
            <a:normAutofit/>
          </a:bodyPr>
          <a:lstStyle/>
          <a:p>
            <a:pPr algn="l" indent="0" marL="0">
              <a:lnSpc>
                <a:spcPct val="113905"/>
              </a:lnSpc>
              <a:buNone/>
            </a:pPr>
            <a:r>
              <a:rPr lang="en-US" sz="3450" spc="-34" kern="0" dirty="0">
                <a:solidFill>
                  <a:srgbClr val="4597D3"/>
                </a:solidFill>
                <a:latin typeface="Arial" pitchFamily="34" charset="0"/>
                <a:ea typeface="Arial" pitchFamily="34" charset="-122"/>
                <a:cs typeface="Arial" pitchFamily="34" charset="-120"/>
              </a:rPr>
              <a:t>"Vibe coding is the most fun you can have with a keyboard."</a:t>
            </a:r>
            <a:endParaRPr lang="en-US" sz="3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115889"/>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SETUP</a:t>
            </a:r>
            <a:endParaRPr lang="en-US" sz="1800" dirty="0"/>
          </a:p>
        </p:txBody>
      </p:sp>
      <p:sp>
        <p:nvSpPr>
          <p:cNvPr id="3" name="Text 1"/>
          <p:cNvSpPr/>
          <p:nvPr/>
        </p:nvSpPr>
        <p:spPr>
          <a:xfrm>
            <a:off x="1047750" y="2820739"/>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Two Weeks Later, You Hit the Wall</a:t>
            </a:r>
            <a:endParaRPr lang="en-US" sz="4500" dirty="0"/>
          </a:p>
        </p:txBody>
      </p:sp>
      <p:sp>
        <p:nvSpPr>
          <p:cNvPr id="4" name="Text 2"/>
          <p:cNvSpPr/>
          <p:nvPr/>
        </p:nvSpPr>
        <p:spPr>
          <a:xfrm>
            <a:off x="1047750" y="3994175"/>
            <a:ext cx="15716250" cy="4667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You ask the AI to add a feature.</a:t>
            </a:r>
            <a:endParaRPr lang="en-US" sz="2250" dirty="0"/>
          </a:p>
        </p:txBody>
      </p:sp>
      <p:sp>
        <p:nvSpPr>
          <p:cNvPr id="5" name="Text 3"/>
          <p:cNvSpPr/>
          <p:nvPr/>
        </p:nvSpPr>
        <p:spPr>
          <a:xfrm>
            <a:off x="1047750" y="4670450"/>
            <a:ext cx="15716250" cy="4667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It doesn't remember the architecture.</a:t>
            </a:r>
            <a:endParaRPr lang="en-US" sz="2250" dirty="0"/>
          </a:p>
        </p:txBody>
      </p:sp>
      <p:sp>
        <p:nvSpPr>
          <p:cNvPr id="6" name="Text 4"/>
          <p:cNvSpPr/>
          <p:nvPr/>
        </p:nvSpPr>
        <p:spPr>
          <a:xfrm>
            <a:off x="1047750" y="5346725"/>
            <a:ext cx="15716250" cy="4667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It doesn't know your conventions.</a:t>
            </a:r>
            <a:endParaRPr lang="en-US" sz="2250" dirty="0"/>
          </a:p>
        </p:txBody>
      </p:sp>
      <p:sp>
        <p:nvSpPr>
          <p:cNvPr id="7" name="Text 5"/>
          <p:cNvSpPr/>
          <p:nvPr/>
        </p:nvSpPr>
        <p:spPr>
          <a:xfrm>
            <a:off x="1047750" y="6023000"/>
            <a:ext cx="14716125" cy="5048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It generates something that </a:t>
            </a:r>
            <a:pPr algn="l" indent="0" marL="0">
              <a:lnSpc>
                <a:spcPct val="130435"/>
              </a:lnSpc>
              <a:buNone/>
            </a:pPr>
            <a:r>
              <a:rPr lang="en-US" sz="2250" i="1" dirty="0">
                <a:solidFill>
                  <a:srgbClr val="AEC0CE"/>
                </a:solidFill>
                <a:latin typeface="Arial" pitchFamily="34" charset="0"/>
                <a:ea typeface="Arial" pitchFamily="34" charset="-122"/>
                <a:cs typeface="Arial" pitchFamily="34" charset="-120"/>
              </a:rPr>
              <a:t>looks </a:t>
            </a:r>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like it fits but doesn't.</a:t>
            </a:r>
            <a:endParaRPr lang="en-US" sz="2250" dirty="0"/>
          </a:p>
        </p:txBody>
      </p:sp>
      <p:sp>
        <p:nvSpPr>
          <p:cNvPr id="8" name="Text 6"/>
          <p:cNvSpPr/>
          <p:nvPr/>
        </p:nvSpPr>
        <p:spPr>
          <a:xfrm>
            <a:off x="1047750" y="6737375"/>
            <a:ext cx="15716250" cy="4667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You patch it. You prompt harder. It gets worse.</a:t>
            </a:r>
            <a:endParaRPr lang="en-US" sz="2250" dirty="0"/>
          </a:p>
        </p:txBody>
      </p:sp>
      <p:sp>
        <p:nvSpPr>
          <p:cNvPr id="9" name="Text 7"/>
          <p:cNvSpPr/>
          <p:nvPr/>
        </p:nvSpPr>
        <p:spPr>
          <a:xfrm>
            <a:off x="1047750" y="7832750"/>
            <a:ext cx="17811750" cy="528786"/>
          </a:xfrm>
          <a:prstGeom prst="rect">
            <a:avLst/>
          </a:prstGeom>
          <a:noFill/>
          <a:ln/>
        </p:spPr>
        <p:txBody>
          <a:bodyPr wrap="square" lIns="25400" tIns="25400" rIns="25400" bIns="25400" rtlCol="0" anchor="t">
            <a:normAutofit/>
          </a:bodyPr>
          <a:lstStyle/>
          <a:p>
            <a:pPr algn="l" indent="0" marL="0">
              <a:lnSpc>
                <a:spcPct val="98133"/>
              </a:lnSpc>
              <a:buNone/>
            </a:pPr>
            <a:r>
              <a:rPr lang="en-US" sz="3450" spc="-34" kern="0" dirty="0">
                <a:solidFill>
                  <a:srgbClr val="F5BB41"/>
                </a:solidFill>
                <a:latin typeface="Arial" pitchFamily="34" charset="0"/>
                <a:ea typeface="Arial" pitchFamily="34" charset="-122"/>
                <a:cs typeface="Arial" pitchFamily="34" charset="-120"/>
              </a:rPr>
              <a:t>"The missing link isn't a better prompt. It's a better process."</a:t>
            </a:r>
            <a:endParaRPr lang="en-US" sz="3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1974726"/>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SETUP</a:t>
            </a:r>
            <a:endParaRPr lang="en-US" sz="1800" dirty="0"/>
          </a:p>
        </p:txBody>
      </p:sp>
      <p:sp>
        <p:nvSpPr>
          <p:cNvPr id="3" name="Text 1"/>
          <p:cNvSpPr/>
          <p:nvPr/>
        </p:nvSpPr>
        <p:spPr>
          <a:xfrm>
            <a:off x="1047750" y="2679576"/>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Four Failures of Vibe Coding</a:t>
            </a:r>
            <a:endParaRPr lang="en-US" sz="4500" dirty="0"/>
          </a:p>
        </p:txBody>
      </p:sp>
      <p:sp>
        <p:nvSpPr>
          <p:cNvPr id="4" name="Shape 2"/>
          <p:cNvSpPr/>
          <p:nvPr/>
        </p:nvSpPr>
        <p:spPr>
          <a:xfrm>
            <a:off x="1047750" y="3929211"/>
            <a:ext cx="7715250" cy="19050"/>
          </a:xfrm>
          <a:prstGeom prst="rect">
            <a:avLst/>
          </a:prstGeom>
          <a:solidFill>
            <a:srgbClr val="FFFFFF">
              <a:alpha val="14000"/>
            </a:srgbClr>
          </a:solidFill>
          <a:ln/>
        </p:spPr>
      </p:sp>
      <p:sp>
        <p:nvSpPr>
          <p:cNvPr id="5" name="Text 3"/>
          <p:cNvSpPr/>
          <p:nvPr/>
        </p:nvSpPr>
        <p:spPr>
          <a:xfrm>
            <a:off x="1047750" y="4176861"/>
            <a:ext cx="8486775" cy="438150"/>
          </a:xfrm>
          <a:prstGeom prst="rect">
            <a:avLst/>
          </a:prstGeom>
          <a:noFill/>
          <a:ln/>
        </p:spPr>
        <p:txBody>
          <a:bodyPr wrap="square" lIns="25400" tIns="25400" rIns="25400" bIns="25400" rtlCol="0" anchor="t">
            <a:normAutofit/>
          </a:bodyPr>
          <a:lstStyle/>
          <a:p>
            <a:pPr algn="l" indent="0" marL="0">
              <a:lnSpc>
                <a:spcPct val="129231"/>
              </a:lnSpc>
              <a:buNone/>
            </a:pPr>
            <a:r>
              <a:rPr lang="en-US" sz="2100" b="1" dirty="0">
                <a:solidFill>
                  <a:srgbClr val="6F8393"/>
                </a:solidFill>
                <a:latin typeface="Arial" pitchFamily="34" charset="0"/>
                <a:ea typeface="Arial" pitchFamily="34" charset="-122"/>
                <a:cs typeface="Arial" pitchFamily="34" charset="-120"/>
              </a:rPr>
              <a:t>01</a:t>
            </a:r>
            <a:endParaRPr lang="en-US" sz="2100" dirty="0"/>
          </a:p>
        </p:txBody>
      </p:sp>
      <p:sp>
        <p:nvSpPr>
          <p:cNvPr id="6" name="Text 4"/>
          <p:cNvSpPr/>
          <p:nvPr/>
        </p:nvSpPr>
        <p:spPr>
          <a:xfrm>
            <a:off x="1047750" y="4691211"/>
            <a:ext cx="8486775" cy="400794"/>
          </a:xfrm>
          <a:prstGeom prst="rect">
            <a:avLst/>
          </a:prstGeom>
          <a:noFill/>
          <a:ln/>
        </p:spPr>
        <p:txBody>
          <a:bodyPr wrap="square" lIns="25400" tIns="25400" rIns="25400" bIns="25400" rtlCol="0" anchor="t">
            <a:normAutofit/>
          </a:bodyPr>
          <a:lstStyle/>
          <a:p>
            <a:pPr algn="l" indent="0" marL="0">
              <a:lnSpc>
                <a:spcPct val="97641"/>
              </a:lnSpc>
              <a:buNone/>
            </a:pPr>
            <a:r>
              <a:rPr lang="en-US" sz="2550" b="1" spc="-25" kern="0" dirty="0">
                <a:solidFill>
                  <a:srgbClr val="FFFFFF"/>
                </a:solidFill>
                <a:latin typeface="Arial" pitchFamily="34" charset="0"/>
                <a:ea typeface="Arial" pitchFamily="34" charset="-122"/>
                <a:cs typeface="Arial" pitchFamily="34" charset="-120"/>
              </a:rPr>
              <a:t>No specification</a:t>
            </a:r>
            <a:endParaRPr lang="en-US" sz="2550" dirty="0"/>
          </a:p>
        </p:txBody>
      </p:sp>
      <p:sp>
        <p:nvSpPr>
          <p:cNvPr id="7" name="Text 5"/>
          <p:cNvSpPr/>
          <p:nvPr/>
        </p:nvSpPr>
        <p:spPr>
          <a:xfrm>
            <a:off x="1047750" y="5149155"/>
            <a:ext cx="848677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AI guesses. "Plausible" is not "correct."</a:t>
            </a:r>
            <a:endParaRPr lang="en-US" sz="1800" dirty="0"/>
          </a:p>
        </p:txBody>
      </p:sp>
      <p:sp>
        <p:nvSpPr>
          <p:cNvPr id="8" name="Shape 6"/>
          <p:cNvSpPr/>
          <p:nvPr/>
        </p:nvSpPr>
        <p:spPr>
          <a:xfrm>
            <a:off x="9525000" y="3929211"/>
            <a:ext cx="7715250" cy="19050"/>
          </a:xfrm>
          <a:prstGeom prst="rect">
            <a:avLst/>
          </a:prstGeom>
          <a:solidFill>
            <a:srgbClr val="FFFFFF">
              <a:alpha val="14000"/>
            </a:srgbClr>
          </a:solidFill>
          <a:ln/>
        </p:spPr>
      </p:sp>
      <p:sp>
        <p:nvSpPr>
          <p:cNvPr id="9" name="Text 7"/>
          <p:cNvSpPr/>
          <p:nvPr/>
        </p:nvSpPr>
        <p:spPr>
          <a:xfrm>
            <a:off x="9525000" y="4176861"/>
            <a:ext cx="8486775" cy="438150"/>
          </a:xfrm>
          <a:prstGeom prst="rect">
            <a:avLst/>
          </a:prstGeom>
          <a:noFill/>
          <a:ln/>
        </p:spPr>
        <p:txBody>
          <a:bodyPr wrap="square" lIns="25400" tIns="25400" rIns="25400" bIns="25400" rtlCol="0" anchor="t">
            <a:normAutofit/>
          </a:bodyPr>
          <a:lstStyle/>
          <a:p>
            <a:pPr algn="l" indent="0" marL="0">
              <a:lnSpc>
                <a:spcPct val="129231"/>
              </a:lnSpc>
              <a:buNone/>
            </a:pPr>
            <a:r>
              <a:rPr lang="en-US" sz="2100" b="1" dirty="0">
                <a:solidFill>
                  <a:srgbClr val="6F8393"/>
                </a:solidFill>
                <a:latin typeface="Arial" pitchFamily="34" charset="0"/>
                <a:ea typeface="Arial" pitchFamily="34" charset="-122"/>
                <a:cs typeface="Arial" pitchFamily="34" charset="-120"/>
              </a:rPr>
              <a:t>02</a:t>
            </a:r>
            <a:endParaRPr lang="en-US" sz="2100" dirty="0"/>
          </a:p>
        </p:txBody>
      </p:sp>
      <p:sp>
        <p:nvSpPr>
          <p:cNvPr id="10" name="Text 8"/>
          <p:cNvSpPr/>
          <p:nvPr/>
        </p:nvSpPr>
        <p:spPr>
          <a:xfrm>
            <a:off x="9525000" y="4691211"/>
            <a:ext cx="8486775" cy="400794"/>
          </a:xfrm>
          <a:prstGeom prst="rect">
            <a:avLst/>
          </a:prstGeom>
          <a:noFill/>
          <a:ln/>
        </p:spPr>
        <p:txBody>
          <a:bodyPr wrap="square" lIns="25400" tIns="25400" rIns="25400" bIns="25400" rtlCol="0" anchor="t">
            <a:normAutofit/>
          </a:bodyPr>
          <a:lstStyle/>
          <a:p>
            <a:pPr algn="l" indent="0" marL="0">
              <a:lnSpc>
                <a:spcPct val="97641"/>
              </a:lnSpc>
              <a:buNone/>
            </a:pPr>
            <a:r>
              <a:rPr lang="en-US" sz="2550" b="1" spc="-25" kern="0" dirty="0">
                <a:solidFill>
                  <a:srgbClr val="FFFFFF"/>
                </a:solidFill>
                <a:latin typeface="Arial" pitchFamily="34" charset="0"/>
                <a:ea typeface="Arial" pitchFamily="34" charset="-122"/>
                <a:cs typeface="Arial" pitchFamily="34" charset="-120"/>
              </a:rPr>
              <a:t>No context</a:t>
            </a:r>
            <a:endParaRPr lang="en-US" sz="2550" dirty="0"/>
          </a:p>
        </p:txBody>
      </p:sp>
      <p:sp>
        <p:nvSpPr>
          <p:cNvPr id="11" name="Text 9"/>
          <p:cNvSpPr/>
          <p:nvPr/>
        </p:nvSpPr>
        <p:spPr>
          <a:xfrm>
            <a:off x="9525000" y="5149155"/>
            <a:ext cx="848677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AI doesn't know your architecture, constraints, edge cases.</a:t>
            </a:r>
            <a:endParaRPr lang="en-US" sz="1800" dirty="0"/>
          </a:p>
        </p:txBody>
      </p:sp>
      <p:sp>
        <p:nvSpPr>
          <p:cNvPr id="12" name="Shape 10"/>
          <p:cNvSpPr/>
          <p:nvPr/>
        </p:nvSpPr>
        <p:spPr>
          <a:xfrm>
            <a:off x="1047750" y="6025455"/>
            <a:ext cx="7715250" cy="19050"/>
          </a:xfrm>
          <a:prstGeom prst="rect">
            <a:avLst/>
          </a:prstGeom>
          <a:solidFill>
            <a:srgbClr val="FFFFFF">
              <a:alpha val="14000"/>
            </a:srgbClr>
          </a:solidFill>
          <a:ln/>
        </p:spPr>
      </p:sp>
      <p:sp>
        <p:nvSpPr>
          <p:cNvPr id="13" name="Text 11"/>
          <p:cNvSpPr/>
          <p:nvPr/>
        </p:nvSpPr>
        <p:spPr>
          <a:xfrm>
            <a:off x="1047750" y="6273105"/>
            <a:ext cx="8486775" cy="438150"/>
          </a:xfrm>
          <a:prstGeom prst="rect">
            <a:avLst/>
          </a:prstGeom>
          <a:noFill/>
          <a:ln/>
        </p:spPr>
        <p:txBody>
          <a:bodyPr wrap="square" lIns="25400" tIns="25400" rIns="25400" bIns="25400" rtlCol="0" anchor="t">
            <a:normAutofit/>
          </a:bodyPr>
          <a:lstStyle/>
          <a:p>
            <a:pPr algn="l" indent="0" marL="0">
              <a:lnSpc>
                <a:spcPct val="129231"/>
              </a:lnSpc>
              <a:buNone/>
            </a:pPr>
            <a:r>
              <a:rPr lang="en-US" sz="2100" b="1" dirty="0">
                <a:solidFill>
                  <a:srgbClr val="6F8393"/>
                </a:solidFill>
                <a:latin typeface="Arial" pitchFamily="34" charset="0"/>
                <a:ea typeface="Arial" pitchFamily="34" charset="-122"/>
                <a:cs typeface="Arial" pitchFamily="34" charset="-120"/>
              </a:rPr>
              <a:t>03</a:t>
            </a:r>
            <a:endParaRPr lang="en-US" sz="2100" dirty="0"/>
          </a:p>
        </p:txBody>
      </p:sp>
      <p:sp>
        <p:nvSpPr>
          <p:cNvPr id="14" name="Text 12"/>
          <p:cNvSpPr/>
          <p:nvPr/>
        </p:nvSpPr>
        <p:spPr>
          <a:xfrm>
            <a:off x="1047750" y="6787455"/>
            <a:ext cx="8486775" cy="400794"/>
          </a:xfrm>
          <a:prstGeom prst="rect">
            <a:avLst/>
          </a:prstGeom>
          <a:noFill/>
          <a:ln/>
        </p:spPr>
        <p:txBody>
          <a:bodyPr wrap="square" lIns="25400" tIns="25400" rIns="25400" bIns="25400" rtlCol="0" anchor="t">
            <a:normAutofit/>
          </a:bodyPr>
          <a:lstStyle/>
          <a:p>
            <a:pPr algn="l" indent="0" marL="0">
              <a:lnSpc>
                <a:spcPct val="97641"/>
              </a:lnSpc>
              <a:buNone/>
            </a:pPr>
            <a:r>
              <a:rPr lang="en-US" sz="2550" b="1" spc="-25" kern="0" dirty="0">
                <a:solidFill>
                  <a:srgbClr val="FFFFFF"/>
                </a:solidFill>
                <a:latin typeface="Arial" pitchFamily="34" charset="0"/>
                <a:ea typeface="Arial" pitchFamily="34" charset="-122"/>
                <a:cs typeface="Arial" pitchFamily="34" charset="-120"/>
              </a:rPr>
              <a:t>No feedback loop</a:t>
            </a:r>
            <a:endParaRPr lang="en-US" sz="2550" dirty="0"/>
          </a:p>
        </p:txBody>
      </p:sp>
      <p:sp>
        <p:nvSpPr>
          <p:cNvPr id="15" name="Text 13"/>
          <p:cNvSpPr/>
          <p:nvPr/>
        </p:nvSpPr>
        <p:spPr>
          <a:xfrm>
            <a:off x="1047750" y="7245400"/>
            <a:ext cx="848677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No way to measure if output is getting better or worse.</a:t>
            </a:r>
            <a:endParaRPr lang="en-US" sz="1800" dirty="0"/>
          </a:p>
        </p:txBody>
      </p:sp>
      <p:sp>
        <p:nvSpPr>
          <p:cNvPr id="16" name="Shape 14"/>
          <p:cNvSpPr/>
          <p:nvPr/>
        </p:nvSpPr>
        <p:spPr>
          <a:xfrm>
            <a:off x="9525000" y="6025455"/>
            <a:ext cx="7715250" cy="19050"/>
          </a:xfrm>
          <a:prstGeom prst="rect">
            <a:avLst/>
          </a:prstGeom>
          <a:solidFill>
            <a:srgbClr val="FFFFFF">
              <a:alpha val="14000"/>
            </a:srgbClr>
          </a:solidFill>
          <a:ln/>
        </p:spPr>
      </p:sp>
      <p:sp>
        <p:nvSpPr>
          <p:cNvPr id="17" name="Text 15"/>
          <p:cNvSpPr/>
          <p:nvPr/>
        </p:nvSpPr>
        <p:spPr>
          <a:xfrm>
            <a:off x="9525000" y="6273105"/>
            <a:ext cx="8486775" cy="438150"/>
          </a:xfrm>
          <a:prstGeom prst="rect">
            <a:avLst/>
          </a:prstGeom>
          <a:noFill/>
          <a:ln/>
        </p:spPr>
        <p:txBody>
          <a:bodyPr wrap="square" lIns="25400" tIns="25400" rIns="25400" bIns="25400" rtlCol="0" anchor="t">
            <a:normAutofit/>
          </a:bodyPr>
          <a:lstStyle/>
          <a:p>
            <a:pPr algn="l" indent="0" marL="0">
              <a:lnSpc>
                <a:spcPct val="129231"/>
              </a:lnSpc>
              <a:buNone/>
            </a:pPr>
            <a:r>
              <a:rPr lang="en-US" sz="2100" b="1" dirty="0">
                <a:solidFill>
                  <a:srgbClr val="6F8393"/>
                </a:solidFill>
                <a:latin typeface="Arial" pitchFamily="34" charset="0"/>
                <a:ea typeface="Arial" pitchFamily="34" charset="-122"/>
                <a:cs typeface="Arial" pitchFamily="34" charset="-120"/>
              </a:rPr>
              <a:t>04</a:t>
            </a:r>
            <a:endParaRPr lang="en-US" sz="2100" dirty="0"/>
          </a:p>
        </p:txBody>
      </p:sp>
      <p:sp>
        <p:nvSpPr>
          <p:cNvPr id="18" name="Text 16"/>
          <p:cNvSpPr/>
          <p:nvPr/>
        </p:nvSpPr>
        <p:spPr>
          <a:xfrm>
            <a:off x="9525000" y="6787455"/>
            <a:ext cx="8486775" cy="400794"/>
          </a:xfrm>
          <a:prstGeom prst="rect">
            <a:avLst/>
          </a:prstGeom>
          <a:noFill/>
          <a:ln/>
        </p:spPr>
        <p:txBody>
          <a:bodyPr wrap="square" lIns="25400" tIns="25400" rIns="25400" bIns="25400" rtlCol="0" anchor="t">
            <a:normAutofit/>
          </a:bodyPr>
          <a:lstStyle/>
          <a:p>
            <a:pPr algn="l" indent="0" marL="0">
              <a:lnSpc>
                <a:spcPct val="97641"/>
              </a:lnSpc>
              <a:buNone/>
            </a:pPr>
            <a:r>
              <a:rPr lang="en-US" sz="2550" b="1" spc="-25" kern="0" dirty="0">
                <a:solidFill>
                  <a:srgbClr val="FFFFFF"/>
                </a:solidFill>
                <a:latin typeface="Arial" pitchFamily="34" charset="0"/>
                <a:ea typeface="Arial" pitchFamily="34" charset="-122"/>
                <a:cs typeface="Arial" pitchFamily="34" charset="-120"/>
              </a:rPr>
              <a:t>No durability</a:t>
            </a:r>
            <a:endParaRPr lang="en-US" sz="2550" dirty="0"/>
          </a:p>
        </p:txBody>
      </p:sp>
      <p:sp>
        <p:nvSpPr>
          <p:cNvPr id="19" name="Text 17"/>
          <p:cNvSpPr/>
          <p:nvPr/>
        </p:nvSpPr>
        <p:spPr>
          <a:xfrm>
            <a:off x="9525000" y="7245400"/>
            <a:ext cx="848677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Session context dies. The next session starts from zero.</a:t>
            </a:r>
            <a:endParaRPr lang="en-US" sz="1800" dirty="0"/>
          </a:p>
        </p:txBody>
      </p:sp>
      <p:sp>
        <p:nvSpPr>
          <p:cNvPr id="20" name="Text 18"/>
          <p:cNvSpPr/>
          <p:nvPr/>
        </p:nvSpPr>
        <p:spPr>
          <a:xfrm>
            <a:off x="1047750" y="8121700"/>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Every SDD framework — BMAD, Kiro, EARS — exists to solve these four problems.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606129"/>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SETUP</a:t>
            </a:r>
            <a:endParaRPr lang="en-US" sz="1800" dirty="0"/>
          </a:p>
        </p:txBody>
      </p:sp>
      <p:sp>
        <p:nvSpPr>
          <p:cNvPr id="3" name="Text 1"/>
          <p:cNvSpPr/>
          <p:nvPr/>
        </p:nvSpPr>
        <p:spPr>
          <a:xfrm>
            <a:off x="1047750" y="3310979"/>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Prompt Engineering → Context Engineering</a:t>
            </a:r>
            <a:endParaRPr lang="en-US" sz="4500" dirty="0"/>
          </a:p>
        </p:txBody>
      </p:sp>
      <p:sp>
        <p:nvSpPr>
          <p:cNvPr id="4" name="Shape 2"/>
          <p:cNvSpPr/>
          <p:nvPr/>
        </p:nvSpPr>
        <p:spPr>
          <a:xfrm>
            <a:off x="9134475" y="4560615"/>
            <a:ext cx="9525" cy="2396356"/>
          </a:xfrm>
          <a:prstGeom prst="rect">
            <a:avLst/>
          </a:prstGeom>
          <a:solidFill>
            <a:srgbClr val="FFFFFF">
              <a:alpha val="14000"/>
            </a:srgbClr>
          </a:solidFill>
          <a:ln/>
        </p:spPr>
      </p:sp>
      <p:sp>
        <p:nvSpPr>
          <p:cNvPr id="5" name="Text 3"/>
          <p:cNvSpPr/>
          <p:nvPr/>
        </p:nvSpPr>
        <p:spPr>
          <a:xfrm>
            <a:off x="1047750" y="4560615"/>
            <a:ext cx="8266748"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PROMPT ENGINEERING</a:t>
            </a:r>
            <a:endParaRPr lang="en-US" sz="1800" dirty="0"/>
          </a:p>
        </p:txBody>
      </p:sp>
      <p:sp>
        <p:nvSpPr>
          <p:cNvPr id="6" name="Text 4"/>
          <p:cNvSpPr/>
          <p:nvPr/>
        </p:nvSpPr>
        <p:spPr>
          <a:xfrm>
            <a:off x="1047750" y="5074965"/>
            <a:ext cx="8266748" cy="449535"/>
          </a:xfrm>
          <a:prstGeom prst="rect">
            <a:avLst/>
          </a:prstGeom>
          <a:noFill/>
          <a:ln/>
        </p:spPr>
        <p:txBody>
          <a:bodyPr wrap="square" lIns="25400" tIns="25400" rIns="25400" bIns="25400" rtlCol="0" anchor="t">
            <a:normAutofit/>
          </a:bodyPr>
          <a:lstStyle/>
          <a:p>
            <a:pPr algn="l" indent="0" marL="0">
              <a:lnSpc>
                <a:spcPct val="116757"/>
              </a:lnSpc>
              <a:buNone/>
            </a:pPr>
            <a:r>
              <a:rPr lang="en-US" sz="2400" spc="-24" kern="0" dirty="0">
                <a:solidFill>
                  <a:srgbClr val="FFFFFF"/>
                </a:solidFill>
                <a:latin typeface="Arial" pitchFamily="34" charset="0"/>
                <a:ea typeface="Arial" pitchFamily="34" charset="-122"/>
                <a:cs typeface="Arial" pitchFamily="34" charset="-120"/>
              </a:rPr>
              <a:t>"How do I phrase this to get a better answer?"</a:t>
            </a:r>
            <a:endParaRPr lang="en-US" sz="2400" dirty="0"/>
          </a:p>
        </p:txBody>
      </p:sp>
      <p:sp>
        <p:nvSpPr>
          <p:cNvPr id="7" name="Text 5"/>
          <p:cNvSpPr/>
          <p:nvPr/>
        </p:nvSpPr>
        <p:spPr>
          <a:xfrm>
            <a:off x="1047750" y="5791200"/>
            <a:ext cx="8266748"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6F8393"/>
                </a:solidFill>
                <a:latin typeface="Arial" pitchFamily="34" charset="0"/>
                <a:ea typeface="Arial" pitchFamily="34" charset="-122"/>
                <a:cs typeface="Arial" pitchFamily="34" charset="-120"/>
              </a:rPr>
              <a:t>A tactic.</a:t>
            </a:r>
            <a:endParaRPr lang="en-US" sz="1800" dirty="0"/>
          </a:p>
        </p:txBody>
      </p:sp>
      <p:sp>
        <p:nvSpPr>
          <p:cNvPr id="8" name="Text 6"/>
          <p:cNvSpPr/>
          <p:nvPr/>
        </p:nvSpPr>
        <p:spPr>
          <a:xfrm>
            <a:off x="9715500" y="4560615"/>
            <a:ext cx="8277225"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5BC2A7"/>
                </a:solidFill>
                <a:latin typeface="Arial" pitchFamily="34" charset="0"/>
                <a:ea typeface="Arial" pitchFamily="34" charset="-122"/>
                <a:cs typeface="Arial" pitchFamily="34" charset="-120"/>
              </a:rPr>
              <a:t>CONTEXT ENGINEERING</a:t>
            </a:r>
            <a:endParaRPr lang="en-US" sz="1800" dirty="0"/>
          </a:p>
        </p:txBody>
      </p:sp>
      <p:sp>
        <p:nvSpPr>
          <p:cNvPr id="9" name="Text 7"/>
          <p:cNvSpPr/>
          <p:nvPr/>
        </p:nvSpPr>
        <p:spPr>
          <a:xfrm>
            <a:off x="9715500" y="5074965"/>
            <a:ext cx="7750492" cy="1272406"/>
          </a:xfrm>
          <a:prstGeom prst="rect">
            <a:avLst/>
          </a:prstGeom>
          <a:noFill/>
          <a:ln/>
        </p:spPr>
        <p:txBody>
          <a:bodyPr wrap="square" lIns="25400" tIns="25400" rIns="25400" bIns="25400" rtlCol="0" anchor="t">
            <a:normAutofit/>
          </a:bodyPr>
          <a:lstStyle/>
          <a:p>
            <a:pPr algn="l" indent="0" marL="0">
              <a:lnSpc>
                <a:spcPct val="116757"/>
              </a:lnSpc>
              <a:buNone/>
            </a:pPr>
            <a:r>
              <a:rPr lang="en-US" sz="2400" spc="-24" kern="0" dirty="0">
                <a:solidFill>
                  <a:srgbClr val="FFFFFF"/>
                </a:solidFill>
                <a:latin typeface="Arial" pitchFamily="34" charset="0"/>
                <a:ea typeface="Arial" pitchFamily="34" charset="-122"/>
                <a:cs typeface="Arial" pitchFamily="34" charset="-120"/>
              </a:rPr>
              <a:t>"What structural context does the AI need to produce work I can trust — and how do I make it durable, versioned, and testable?"</a:t>
            </a:r>
            <a:endParaRPr lang="en-US" sz="2400" dirty="0"/>
          </a:p>
        </p:txBody>
      </p:sp>
      <p:sp>
        <p:nvSpPr>
          <p:cNvPr id="10" name="Text 8"/>
          <p:cNvSpPr/>
          <p:nvPr/>
        </p:nvSpPr>
        <p:spPr>
          <a:xfrm>
            <a:off x="9715500" y="6614071"/>
            <a:ext cx="82772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BC2A7"/>
                </a:solidFill>
                <a:latin typeface="Arial" pitchFamily="34" charset="0"/>
                <a:ea typeface="Arial" pitchFamily="34" charset="-122"/>
                <a:cs typeface="Arial" pitchFamily="34" charset="-120"/>
              </a:rPr>
              <a:t>A discipline.</a:t>
            </a:r>
            <a:endParaRPr lang="en-US" sz="1800" dirty="0"/>
          </a:p>
        </p:txBody>
      </p:sp>
      <p:sp>
        <p:nvSpPr>
          <p:cNvPr id="11" name="Text 9"/>
          <p:cNvSpPr/>
          <p:nvPr/>
        </p:nvSpPr>
        <p:spPr>
          <a:xfrm>
            <a:off x="1047750" y="7490371"/>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Prompt engineering is a tactic. Context engineering is a discipline.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400300"/>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SPEC-DRIVEN DEVELOPMENT</a:t>
            </a:r>
            <a:endParaRPr lang="en-US" sz="1800" dirty="0"/>
          </a:p>
        </p:txBody>
      </p:sp>
      <p:sp>
        <p:nvSpPr>
          <p:cNvPr id="3" name="Text 1"/>
          <p:cNvSpPr/>
          <p:nvPr/>
        </p:nvSpPr>
        <p:spPr>
          <a:xfrm>
            <a:off x="1047750" y="3105150"/>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SDD: Spec First, Generate Second</a:t>
            </a:r>
            <a:endParaRPr lang="en-US" sz="4500" dirty="0"/>
          </a:p>
        </p:txBody>
      </p:sp>
      <p:sp>
        <p:nvSpPr>
          <p:cNvPr id="4" name="Shape 2"/>
          <p:cNvSpPr/>
          <p:nvPr/>
        </p:nvSpPr>
        <p:spPr>
          <a:xfrm>
            <a:off x="1047750" y="5207273"/>
            <a:ext cx="16192500" cy="9525"/>
          </a:xfrm>
          <a:prstGeom prst="rect">
            <a:avLst/>
          </a:prstGeom>
          <a:solidFill>
            <a:srgbClr val="FFFFFF">
              <a:alpha val="8000"/>
            </a:srgbClr>
          </a:solidFill>
          <a:ln/>
        </p:spPr>
      </p:sp>
      <p:sp>
        <p:nvSpPr>
          <p:cNvPr id="5" name="Text 3"/>
          <p:cNvSpPr/>
          <p:nvPr/>
        </p:nvSpPr>
        <p:spPr>
          <a:xfrm>
            <a:off x="1047750" y="4526235"/>
            <a:ext cx="1885950"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4597D3"/>
                </a:solidFill>
                <a:latin typeface="Arial" pitchFamily="34" charset="0"/>
                <a:ea typeface="Arial" pitchFamily="34" charset="-122"/>
                <a:cs typeface="Arial" pitchFamily="34" charset="-120"/>
              </a:rPr>
              <a:t>EARS</a:t>
            </a:r>
            <a:endParaRPr lang="en-US" sz="2400" dirty="0"/>
          </a:p>
        </p:txBody>
      </p:sp>
      <p:sp>
        <p:nvSpPr>
          <p:cNvPr id="6" name="Text 4"/>
          <p:cNvSpPr/>
          <p:nvPr/>
        </p:nvSpPr>
        <p:spPr>
          <a:xfrm>
            <a:off x="3295650" y="4626248"/>
            <a:ext cx="7743364"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Structured syntax for requirements — decades old, rediscovered.</a:t>
            </a:r>
            <a:endParaRPr lang="en-US" sz="1950" dirty="0"/>
          </a:p>
        </p:txBody>
      </p:sp>
      <p:sp>
        <p:nvSpPr>
          <p:cNvPr id="7" name="Shape 5"/>
          <p:cNvSpPr/>
          <p:nvPr/>
        </p:nvSpPr>
        <p:spPr>
          <a:xfrm>
            <a:off x="1047750" y="6107385"/>
            <a:ext cx="16192500" cy="9525"/>
          </a:xfrm>
          <a:prstGeom prst="rect">
            <a:avLst/>
          </a:prstGeom>
          <a:solidFill>
            <a:srgbClr val="FFFFFF">
              <a:alpha val="8000"/>
            </a:srgbClr>
          </a:solidFill>
          <a:ln/>
        </p:spPr>
      </p:sp>
      <p:sp>
        <p:nvSpPr>
          <p:cNvPr id="8" name="Text 6"/>
          <p:cNvSpPr/>
          <p:nvPr/>
        </p:nvSpPr>
        <p:spPr>
          <a:xfrm>
            <a:off x="1047750" y="5426348"/>
            <a:ext cx="1885950"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4597D3"/>
                </a:solidFill>
                <a:latin typeface="Arial" pitchFamily="34" charset="0"/>
                <a:ea typeface="Arial" pitchFamily="34" charset="-122"/>
                <a:cs typeface="Arial" pitchFamily="34" charset="-120"/>
              </a:rPr>
              <a:t>Kiro</a:t>
            </a:r>
            <a:endParaRPr lang="en-US" sz="2400" dirty="0"/>
          </a:p>
        </p:txBody>
      </p:sp>
      <p:sp>
        <p:nvSpPr>
          <p:cNvPr id="9" name="Text 7"/>
          <p:cNvSpPr/>
          <p:nvPr/>
        </p:nvSpPr>
        <p:spPr>
          <a:xfrm>
            <a:off x="3295650" y="5526360"/>
            <a:ext cx="6765518"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Amazon's spec-first IDE, built after the dark code outage.</a:t>
            </a:r>
            <a:endParaRPr lang="en-US" sz="1950" dirty="0"/>
          </a:p>
        </p:txBody>
      </p:sp>
      <p:sp>
        <p:nvSpPr>
          <p:cNvPr id="10" name="Shape 8"/>
          <p:cNvSpPr/>
          <p:nvPr/>
        </p:nvSpPr>
        <p:spPr>
          <a:xfrm>
            <a:off x="1047750" y="7007498"/>
            <a:ext cx="16192500" cy="9525"/>
          </a:xfrm>
          <a:prstGeom prst="rect">
            <a:avLst/>
          </a:prstGeom>
          <a:solidFill>
            <a:srgbClr val="FFFFFF">
              <a:alpha val="8000"/>
            </a:srgbClr>
          </a:solidFill>
          <a:ln/>
        </p:spPr>
      </p:sp>
      <p:sp>
        <p:nvSpPr>
          <p:cNvPr id="11" name="Text 9"/>
          <p:cNvSpPr/>
          <p:nvPr/>
        </p:nvSpPr>
        <p:spPr>
          <a:xfrm>
            <a:off x="1047750" y="6326460"/>
            <a:ext cx="1885950"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4597D3"/>
                </a:solidFill>
                <a:latin typeface="Arial" pitchFamily="34" charset="0"/>
                <a:ea typeface="Arial" pitchFamily="34" charset="-122"/>
                <a:cs typeface="Arial" pitchFamily="34" charset="-120"/>
              </a:rPr>
              <a:t>BMAD</a:t>
            </a:r>
            <a:endParaRPr lang="en-US" sz="2400" dirty="0"/>
          </a:p>
        </p:txBody>
      </p:sp>
      <p:sp>
        <p:nvSpPr>
          <p:cNvPr id="12" name="Text 10"/>
          <p:cNvSpPr/>
          <p:nvPr/>
        </p:nvSpPr>
        <p:spPr>
          <a:xfrm>
            <a:off x="3295650" y="6426473"/>
            <a:ext cx="3953374"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Multi-agent, spec-driven lifecycle.</a:t>
            </a:r>
            <a:endParaRPr lang="en-US" sz="1950" dirty="0"/>
          </a:p>
        </p:txBody>
      </p:sp>
      <p:sp>
        <p:nvSpPr>
          <p:cNvPr id="13" name="Text 11"/>
          <p:cNvSpPr/>
          <p:nvPr/>
        </p:nvSpPr>
        <p:spPr>
          <a:xfrm>
            <a:off x="1047750" y="7550423"/>
            <a:ext cx="17811750" cy="526703"/>
          </a:xfrm>
          <a:prstGeom prst="rect">
            <a:avLst/>
          </a:prstGeom>
          <a:noFill/>
          <a:ln/>
        </p:spPr>
        <p:txBody>
          <a:bodyPr wrap="square" lIns="25400" tIns="25400" rIns="25400" bIns="25400" rtlCol="0" anchor="t">
            <a:normAutofit/>
          </a:bodyPr>
          <a:lstStyle/>
          <a:p>
            <a:pPr algn="l" indent="0" marL="0">
              <a:lnSpc>
                <a:spcPct val="117931"/>
              </a:lnSpc>
              <a:buNone/>
            </a:pPr>
            <a:r>
              <a:rPr lang="en-US" sz="2850" spc="-29" kern="0" dirty="0">
                <a:solidFill>
                  <a:srgbClr val="FFFFFF"/>
                </a:solidFill>
                <a:latin typeface="Arial" pitchFamily="34" charset="0"/>
                <a:ea typeface="Arial" pitchFamily="34" charset="-122"/>
                <a:cs typeface="Arial" pitchFamily="34" charset="-120"/>
              </a:rPr>
              <a:t>"The spec as source of truth — comprehension checkpoint, eval, quality gate, record."</a:t>
            </a:r>
            <a:endParaRPr lang="en-US" sz="2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552700"/>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WHERE SDD FALLS SHORT</a:t>
            </a:r>
            <a:endParaRPr lang="en-US" sz="1800" dirty="0"/>
          </a:p>
        </p:txBody>
      </p:sp>
      <p:sp>
        <p:nvSpPr>
          <p:cNvPr id="3" name="Text 1"/>
          <p:cNvSpPr/>
          <p:nvPr/>
        </p:nvSpPr>
        <p:spPr>
          <a:xfrm>
            <a:off x="1047750" y="3257550"/>
            <a:ext cx="1676400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SDD Writes Documents. Agents Need Data.</a:t>
            </a:r>
            <a:endParaRPr lang="en-US" sz="4500" dirty="0"/>
          </a:p>
        </p:txBody>
      </p:sp>
      <p:sp>
        <p:nvSpPr>
          <p:cNvPr id="4" name="Text 2"/>
          <p:cNvSpPr/>
          <p:nvPr/>
        </p:nvSpPr>
        <p:spPr>
          <a:xfrm>
            <a:off x="1047750" y="4278585"/>
            <a:ext cx="13735050"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A monolithic PRD in a local markdown file is an island. It doesn't map to how agents consume context — and in enterprises where ADO, GitHub Projects, or Jira are the system of record, that file is disconnected from tickets, sprints, CI, and traceability.</a:t>
            </a:r>
            <a:endParaRPr lang="en-US" sz="18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28800" y="5497785"/>
            <a:ext cx="533400" cy="533400"/>
          </a:xfrm>
          <a:prstGeom prst="rect">
            <a:avLst/>
          </a:prstGeom>
        </p:spPr>
      </p:pic>
      <p:sp>
        <p:nvSpPr>
          <p:cNvPr id="6" name="Text 3"/>
          <p:cNvSpPr/>
          <p:nvPr/>
        </p:nvSpPr>
        <p:spPr>
          <a:xfrm>
            <a:off x="1406608" y="6164535"/>
            <a:ext cx="1377709" cy="352425"/>
          </a:xfrm>
          <a:prstGeom prst="rect">
            <a:avLst/>
          </a:prstGeom>
          <a:noFill/>
          <a:ln/>
        </p:spPr>
        <p:txBody>
          <a:bodyPr wrap="square" lIns="25400" tIns="25400" rIns="25400" bIns="25400" rtlCol="0" anchor="t">
            <a:normAutofit/>
          </a:bodyPr>
          <a:lstStyle/>
          <a:p>
            <a:pPr algn="ctr" indent="0" marL="0">
              <a:lnSpc>
                <a:spcPct val="132000"/>
              </a:lnSpc>
              <a:buNone/>
            </a:pPr>
            <a:r>
              <a:rPr lang="en-US" sz="1650" dirty="0">
                <a:solidFill>
                  <a:srgbClr val="AEC0CE"/>
                </a:solidFill>
                <a:latin typeface="Arial" pitchFamily="34" charset="0"/>
                <a:ea typeface="Arial" pitchFamily="34" charset="-122"/>
                <a:cs typeface="Arial" pitchFamily="34" charset="-120"/>
              </a:rPr>
              <a:t>Local PRD.md</a:t>
            </a:r>
            <a:endParaRPr lang="en-US" sz="1650" dirty="0"/>
          </a:p>
        </p:txBody>
      </p:sp>
      <p:sp>
        <p:nvSpPr>
          <p:cNvPr id="7" name="Shape 4"/>
          <p:cNvSpPr/>
          <p:nvPr/>
        </p:nvSpPr>
        <p:spPr>
          <a:xfrm>
            <a:off x="3524250" y="5978798"/>
            <a:ext cx="6591300" cy="19050"/>
          </a:xfrm>
          <a:prstGeom prst="rect">
            <a:avLst/>
          </a:prstGeom>
          <a:solidFill>
            <a:srgbClr val="FFFFFF">
              <a:alpha val="14000"/>
            </a:srgbClr>
          </a:solidFill>
          <a:ln/>
        </p:spPr>
      </p:sp>
      <p:sp>
        <p:nvSpPr>
          <p:cNvPr id="8" name="Shape 5"/>
          <p:cNvSpPr/>
          <p:nvPr/>
        </p:nvSpPr>
        <p:spPr>
          <a:xfrm>
            <a:off x="6648450" y="5826398"/>
            <a:ext cx="342900" cy="342900"/>
          </a:xfrm>
          <a:prstGeom prst="rect">
            <a:avLst/>
          </a:prstGeom>
          <a:solidFill>
            <a:srgbClr val="0E1A26"/>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01375" y="5550173"/>
            <a:ext cx="419100" cy="419100"/>
          </a:xfrm>
          <a:prstGeom prst="rect">
            <a:avLst/>
          </a:prstGeom>
        </p:spPr>
      </p:pic>
      <p:sp>
        <p:nvSpPr>
          <p:cNvPr id="10" name="Text 6"/>
          <p:cNvSpPr/>
          <p:nvPr/>
        </p:nvSpPr>
        <p:spPr>
          <a:xfrm>
            <a:off x="11080998" y="6102623"/>
            <a:ext cx="336054" cy="323850"/>
          </a:xfrm>
          <a:prstGeom prst="rect">
            <a:avLst/>
          </a:prstGeom>
          <a:noFill/>
          <a:ln/>
        </p:spPr>
        <p:txBody>
          <a:bodyPr wrap="square" lIns="25400" tIns="25400" rIns="25400" bIns="25400" rtlCol="0" anchor="t">
            <a:normAutofit/>
          </a:bodyPr>
          <a:lstStyle/>
          <a:p>
            <a:pPr algn="l" indent="0" marL="0">
              <a:lnSpc>
                <a:spcPct val="133333"/>
              </a:lnSpc>
              <a:buNone/>
            </a:pPr>
            <a:r>
              <a:rPr lang="en-US" sz="1500" dirty="0">
                <a:solidFill>
                  <a:srgbClr val="AEC0CE"/>
                </a:solidFill>
                <a:latin typeface="Arial" pitchFamily="34" charset="0"/>
                <a:ea typeface="Arial" pitchFamily="34" charset="-122"/>
                <a:cs typeface="Arial" pitchFamily="34" charset="-120"/>
              </a:rPr>
              <a:t>Jira</a:t>
            </a:r>
            <a:endParaRPr lang="en-US" sz="15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773025" y="5550173"/>
            <a:ext cx="419100" cy="419100"/>
          </a:xfrm>
          <a:prstGeom prst="rect">
            <a:avLst/>
          </a:prstGeom>
        </p:spPr>
      </p:pic>
      <p:sp>
        <p:nvSpPr>
          <p:cNvPr id="12" name="Text 7"/>
          <p:cNvSpPr/>
          <p:nvPr/>
        </p:nvSpPr>
        <p:spPr>
          <a:xfrm>
            <a:off x="12792596" y="6102623"/>
            <a:ext cx="456158" cy="323850"/>
          </a:xfrm>
          <a:prstGeom prst="rect">
            <a:avLst/>
          </a:prstGeom>
          <a:noFill/>
          <a:ln/>
        </p:spPr>
        <p:txBody>
          <a:bodyPr wrap="square" lIns="25400" tIns="25400" rIns="25400" bIns="25400" rtlCol="0" anchor="t">
            <a:normAutofit/>
          </a:bodyPr>
          <a:lstStyle/>
          <a:p>
            <a:pPr algn="l" indent="0" marL="0">
              <a:lnSpc>
                <a:spcPct val="133333"/>
              </a:lnSpc>
              <a:buNone/>
            </a:pPr>
            <a:r>
              <a:rPr lang="en-US" sz="1500" dirty="0">
                <a:solidFill>
                  <a:srgbClr val="AEC0CE"/>
                </a:solidFill>
                <a:latin typeface="Arial" pitchFamily="34" charset="0"/>
                <a:ea typeface="Arial" pitchFamily="34" charset="-122"/>
                <a:cs typeface="Arial" pitchFamily="34" charset="-120"/>
              </a:rPr>
              <a:t>ADO</a:t>
            </a:r>
            <a:endParaRPr lang="en-US" sz="15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525625" y="5550173"/>
            <a:ext cx="457200" cy="457200"/>
          </a:xfrm>
          <a:prstGeom prst="rect">
            <a:avLst/>
          </a:prstGeom>
        </p:spPr>
      </p:pic>
      <p:sp>
        <p:nvSpPr>
          <p:cNvPr id="14" name="Text 8"/>
          <p:cNvSpPr/>
          <p:nvPr/>
        </p:nvSpPr>
        <p:spPr>
          <a:xfrm>
            <a:off x="14461480" y="6140723"/>
            <a:ext cx="661690" cy="323850"/>
          </a:xfrm>
          <a:prstGeom prst="rect">
            <a:avLst/>
          </a:prstGeom>
          <a:noFill/>
          <a:ln/>
        </p:spPr>
        <p:txBody>
          <a:bodyPr wrap="square" lIns="25400" tIns="25400" rIns="25400" bIns="25400" rtlCol="0" anchor="t">
            <a:normAutofit/>
          </a:bodyPr>
          <a:lstStyle/>
          <a:p>
            <a:pPr algn="l" indent="0" marL="0">
              <a:lnSpc>
                <a:spcPct val="133333"/>
              </a:lnSpc>
              <a:buNone/>
            </a:pPr>
            <a:r>
              <a:rPr lang="en-US" sz="1500" dirty="0">
                <a:solidFill>
                  <a:srgbClr val="AEC0CE"/>
                </a:solidFill>
                <a:latin typeface="Arial" pitchFamily="34" charset="0"/>
                <a:ea typeface="Arial" pitchFamily="34" charset="-122"/>
                <a:cs typeface="Arial" pitchFamily="34" charset="-120"/>
              </a:rPr>
              <a:t>GitHub</a:t>
            </a:r>
            <a:endParaRPr lang="en-US" sz="1500" dirty="0"/>
          </a:p>
        </p:txBody>
      </p:sp>
      <p:sp>
        <p:nvSpPr>
          <p:cNvPr id="15" name="Text 9"/>
          <p:cNvSpPr/>
          <p:nvPr/>
        </p:nvSpPr>
        <p:spPr>
          <a:xfrm>
            <a:off x="16445061" y="6140723"/>
            <a:ext cx="237753" cy="323850"/>
          </a:xfrm>
          <a:prstGeom prst="rect">
            <a:avLst/>
          </a:prstGeom>
          <a:noFill/>
          <a:ln/>
        </p:spPr>
        <p:txBody>
          <a:bodyPr wrap="square" lIns="25400" tIns="25400" rIns="25400" bIns="25400" rtlCol="0" anchor="t">
            <a:normAutofit/>
          </a:bodyPr>
          <a:lstStyle/>
          <a:p>
            <a:pPr algn="l" indent="0" marL="0">
              <a:lnSpc>
                <a:spcPct val="133333"/>
              </a:lnSpc>
              <a:buNone/>
            </a:pPr>
            <a:r>
              <a:rPr lang="en-US" sz="1500" dirty="0">
                <a:solidFill>
                  <a:srgbClr val="AEC0CE"/>
                </a:solidFill>
                <a:latin typeface="Arial" pitchFamily="34" charset="0"/>
                <a:ea typeface="Arial" pitchFamily="34" charset="-122"/>
                <a:cs typeface="Arial" pitchFamily="34" charset="-120"/>
              </a:rPr>
              <a:t>CI</a:t>
            </a:r>
            <a:endParaRPr lang="en-US" sz="1500" dirty="0"/>
          </a:p>
        </p:txBody>
      </p:sp>
      <p:sp>
        <p:nvSpPr>
          <p:cNvPr id="16" name="Text 10"/>
          <p:cNvSpPr/>
          <p:nvPr/>
        </p:nvSpPr>
        <p:spPr>
          <a:xfrm>
            <a:off x="1047750" y="7012260"/>
            <a:ext cx="15697200" cy="912465"/>
          </a:xfrm>
          <a:prstGeom prst="rect">
            <a:avLst/>
          </a:prstGeom>
          <a:noFill/>
          <a:ln/>
        </p:spPr>
        <p:txBody>
          <a:bodyPr wrap="square" lIns="25400" tIns="25400" rIns="25400" bIns="25400" rtlCol="0" anchor="t">
            <a:normAutofit/>
          </a:bodyPr>
          <a:lstStyle/>
          <a:p>
            <a:pPr algn="l" indent="0" marL="0">
              <a:lnSpc>
                <a:spcPct val="117692"/>
              </a:lnSpc>
              <a:buNone/>
            </a:pPr>
            <a:r>
              <a:rPr lang="en-US" sz="2550" spc="-25" kern="0" dirty="0">
                <a:solidFill>
                  <a:srgbClr val="FFFFFF"/>
                </a:solidFill>
                <a:latin typeface="Arial" pitchFamily="34" charset="0"/>
                <a:ea typeface="Arial" pitchFamily="34" charset="-122"/>
                <a:cs typeface="Arial" pitchFamily="34" charset="-120"/>
              </a:rPr>
              <a:t>"SDD improves on vibes, but imports the old assumption that 'documentation' means 'a document.'"</a:t>
            </a:r>
            <a:endParaRPr lang="en-US" sz="2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347838"/>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WHERE SDD FALLS SHORT</a:t>
            </a:r>
            <a:endParaRPr lang="en-US" sz="1800" dirty="0"/>
          </a:p>
        </p:txBody>
      </p:sp>
      <p:sp>
        <p:nvSpPr>
          <p:cNvPr id="3" name="Text 1"/>
          <p:cNvSpPr/>
          <p:nvPr/>
        </p:nvSpPr>
        <p:spPr>
          <a:xfrm>
            <a:off x="1047750" y="3052688"/>
            <a:ext cx="16187738" cy="1318171"/>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BMAD's Agents Are Conversational. Your Team Isn't Generic.</a:t>
            </a:r>
            <a:endParaRPr lang="en-US" sz="4500" dirty="0"/>
          </a:p>
        </p:txBody>
      </p:sp>
      <p:sp>
        <p:nvSpPr>
          <p:cNvPr id="4" name="Text 2"/>
          <p:cNvSpPr/>
          <p:nvPr/>
        </p:nvSpPr>
        <p:spPr>
          <a:xfrm>
            <a:off x="1047750" y="4828059"/>
            <a:ext cx="85915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NARRATIVE PERSONA</a:t>
            </a:r>
            <a:endParaRPr lang="en-US" sz="1800" dirty="0"/>
          </a:p>
        </p:txBody>
      </p:sp>
      <p:sp>
        <p:nvSpPr>
          <p:cNvPr id="5" name="Text 3"/>
          <p:cNvSpPr/>
          <p:nvPr/>
        </p:nvSpPr>
        <p:spPr>
          <a:xfrm>
            <a:off x="1047750" y="5304309"/>
            <a:ext cx="8044815" cy="1379041"/>
          </a:xfrm>
          <a:prstGeom prst="rect">
            <a:avLst/>
          </a:prstGeom>
          <a:noFill/>
          <a:ln/>
        </p:spPr>
        <p:txBody>
          <a:bodyPr wrap="square" lIns="25400" tIns="25400" rIns="25400" bIns="25400" rtlCol="0" anchor="t">
            <a:normAutofit/>
          </a:bodyPr>
          <a:lstStyle/>
          <a:p>
            <a:pPr algn="l" indent="0" marL="0">
              <a:lnSpc>
                <a:spcPct val="140800"/>
              </a:lnSpc>
              <a:buNone/>
            </a:pPr>
            <a:r>
              <a:rPr lang="en-US" sz="1650" i="1" dirty="0">
                <a:solidFill>
                  <a:srgbClr val="6F8393"/>
                </a:solidFill>
                <a:latin typeface="Arial" pitchFamily="34" charset="0"/>
                <a:ea typeface="Arial" pitchFamily="34" charset="-122"/>
                <a:cs typeface="Arial" pitchFamily="34" charset="-120"/>
              </a:rPr>
              <a:t>"You are a senior backend architect with fifteen years of experience who cares deeply about clean code and thinks carefully about tradeoffs before making decisions, always considering scalability and maintainability across the system as a whole..."</a:t>
            </a:r>
            <a:endParaRPr lang="en-US" sz="1650" dirty="0"/>
          </a:p>
        </p:txBody>
      </p:sp>
      <p:sp>
        <p:nvSpPr>
          <p:cNvPr id="6" name="Text 4"/>
          <p:cNvSpPr/>
          <p:nvPr/>
        </p:nvSpPr>
        <p:spPr>
          <a:xfrm>
            <a:off x="9429750" y="4828059"/>
            <a:ext cx="85915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5BC2A7"/>
                </a:solidFill>
                <a:latin typeface="Arial" pitchFamily="34" charset="0"/>
                <a:ea typeface="Arial" pitchFamily="34" charset="-122"/>
                <a:cs typeface="Arial" pitchFamily="34" charset="-120"/>
              </a:rPr>
              <a:t>STRUCTURED CONSTRAINT</a:t>
            </a:r>
            <a:endParaRPr lang="en-US" sz="1800" dirty="0"/>
          </a:p>
        </p:txBody>
      </p:sp>
      <p:sp>
        <p:nvSpPr>
          <p:cNvPr id="7" name="Shape 5"/>
          <p:cNvSpPr/>
          <p:nvPr/>
        </p:nvSpPr>
        <p:spPr>
          <a:xfrm>
            <a:off x="9429750" y="5304309"/>
            <a:ext cx="19050" cy="342900"/>
          </a:xfrm>
          <a:prstGeom prst="rect">
            <a:avLst/>
          </a:prstGeom>
          <a:solidFill>
            <a:srgbClr val="5BC2A7"/>
          </a:solidFill>
          <a:ln/>
        </p:spPr>
      </p:sp>
      <p:sp>
        <p:nvSpPr>
          <p:cNvPr id="8" name="Text 6"/>
          <p:cNvSpPr/>
          <p:nvPr/>
        </p:nvSpPr>
        <p:spPr>
          <a:xfrm>
            <a:off x="9639300" y="5304309"/>
            <a:ext cx="8382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We always use result objects.</a:t>
            </a:r>
            <a:endParaRPr lang="en-US" sz="1800" dirty="0"/>
          </a:p>
        </p:txBody>
      </p:sp>
      <p:sp>
        <p:nvSpPr>
          <p:cNvPr id="9" name="Shape 7"/>
          <p:cNvSpPr/>
          <p:nvPr/>
        </p:nvSpPr>
        <p:spPr>
          <a:xfrm>
            <a:off x="9429750" y="5780559"/>
            <a:ext cx="19050" cy="342900"/>
          </a:xfrm>
          <a:prstGeom prst="rect">
            <a:avLst/>
          </a:prstGeom>
          <a:solidFill>
            <a:srgbClr val="5BC2A7"/>
          </a:solidFill>
          <a:ln/>
        </p:spPr>
      </p:sp>
      <p:sp>
        <p:nvSpPr>
          <p:cNvPr id="10" name="Text 8"/>
          <p:cNvSpPr/>
          <p:nvPr/>
        </p:nvSpPr>
        <p:spPr>
          <a:xfrm>
            <a:off x="9639300" y="5780559"/>
            <a:ext cx="8382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Our APIs use ProblemDetails.</a:t>
            </a:r>
            <a:endParaRPr lang="en-US" sz="1800" dirty="0"/>
          </a:p>
        </p:txBody>
      </p:sp>
      <p:sp>
        <p:nvSpPr>
          <p:cNvPr id="11" name="Text 9"/>
          <p:cNvSpPr/>
          <p:nvPr/>
        </p:nvSpPr>
        <p:spPr>
          <a:xfrm>
            <a:off x="1047750" y="7064350"/>
            <a:ext cx="16764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BMAD has to be generic — it's a product. A tool for your team should know your language and bake your opinions in.</a:t>
            </a:r>
            <a:endParaRPr lang="en-US" sz="1800" dirty="0"/>
          </a:p>
        </p:txBody>
      </p:sp>
      <p:sp>
        <p:nvSpPr>
          <p:cNvPr id="12" name="Text 10"/>
          <p:cNvSpPr/>
          <p:nvPr/>
        </p:nvSpPr>
        <p:spPr>
          <a:xfrm>
            <a:off x="1047750" y="7750150"/>
            <a:ext cx="16764000" cy="379437"/>
          </a:xfrm>
          <a:prstGeom prst="rect">
            <a:avLst/>
          </a:prstGeom>
          <a:noFill/>
          <a:ln/>
        </p:spPr>
        <p:txBody>
          <a:bodyPr wrap="square" lIns="25400" tIns="25400" rIns="25400" bIns="25400" rtlCol="0" anchor="t">
            <a:normAutofit/>
          </a:bodyPr>
          <a:lstStyle/>
          <a:p>
            <a:pPr algn="l" indent="0" marL="0">
              <a:lnSpc>
                <a:spcPct val="96865"/>
              </a:lnSpc>
              <a:buNone/>
            </a:pPr>
            <a:r>
              <a:rPr lang="en-US" sz="2400" spc="-24" kern="0" dirty="0">
                <a:solidFill>
                  <a:srgbClr val="4597D3"/>
                </a:solidFill>
                <a:latin typeface="Arial" pitchFamily="34" charset="0"/>
                <a:ea typeface="Arial" pitchFamily="34" charset="-122"/>
                <a:cs typeface="Arial" pitchFamily="34" charset="-120"/>
              </a:rPr>
              <a:t>"Your agents shouldn't be generic personas. They should be your analysts, your architects, your QA."</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273921"/>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WHERE SDD FALLS SHORT</a:t>
            </a:r>
            <a:endParaRPr lang="en-US" sz="1800" dirty="0"/>
          </a:p>
        </p:txBody>
      </p:sp>
      <p:sp>
        <p:nvSpPr>
          <p:cNvPr id="3" name="Text 1"/>
          <p:cNvSpPr/>
          <p:nvPr/>
        </p:nvSpPr>
        <p:spPr>
          <a:xfrm>
            <a:off x="1047750" y="3978771"/>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Where Do Your Opinions Live?</a:t>
            </a:r>
            <a:endParaRPr lang="en-US" sz="4500" dirty="0"/>
          </a:p>
        </p:txBody>
      </p:sp>
      <p:sp>
        <p:nvSpPr>
          <p:cNvPr id="4" name="Text 2"/>
          <p:cNvSpPr/>
          <p:nvPr/>
        </p:nvSpPr>
        <p:spPr>
          <a:xfrm>
            <a:off x="791847" y="5342706"/>
            <a:ext cx="5629855"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SECTION 1</a:t>
            </a:r>
            <a:endParaRPr lang="en-US" sz="1800" dirty="0"/>
          </a:p>
        </p:txBody>
      </p:sp>
      <p:sp>
        <p:nvSpPr>
          <p:cNvPr id="5" name="Text 3"/>
          <p:cNvSpPr/>
          <p:nvPr/>
        </p:nvSpPr>
        <p:spPr>
          <a:xfrm>
            <a:off x="791847" y="5799906"/>
            <a:ext cx="5629855" cy="336798"/>
          </a:xfrm>
          <a:prstGeom prst="rect">
            <a:avLst/>
          </a:prstGeom>
          <a:noFill/>
          <a:ln/>
        </p:spPr>
        <p:txBody>
          <a:bodyPr wrap="square" lIns="25400" tIns="25400" rIns="25400" bIns="25400" rtlCol="0" anchor="t">
            <a:normAutofit/>
          </a:bodyPr>
          <a:lstStyle/>
          <a:p>
            <a:pPr algn="ctr" indent="0" marL="0">
              <a:lnSpc>
                <a:spcPct val="96492"/>
              </a:lnSpc>
              <a:buNone/>
            </a:pPr>
            <a:r>
              <a:rPr lang="en-US" sz="2100" spc="-21" kern="0" dirty="0">
                <a:solidFill>
                  <a:srgbClr val="6F8393"/>
                </a:solidFill>
                <a:latin typeface="Arial" pitchFamily="34" charset="0"/>
                <a:ea typeface="Arial" pitchFamily="34" charset="-122"/>
                <a:cs typeface="Arial" pitchFamily="34" charset="-120"/>
              </a:rPr>
              <a:t>Hopes in a prompt</a:t>
            </a:r>
            <a:endParaRPr lang="en-US" sz="21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65800" y="5511105"/>
            <a:ext cx="419100" cy="419100"/>
          </a:xfrm>
          <a:prstGeom prst="rect">
            <a:avLst/>
          </a:prstGeom>
        </p:spPr>
      </p:pic>
      <p:sp>
        <p:nvSpPr>
          <p:cNvPr id="7" name="Text 4"/>
          <p:cNvSpPr/>
          <p:nvPr/>
        </p:nvSpPr>
        <p:spPr>
          <a:xfrm>
            <a:off x="6328994" y="5342706"/>
            <a:ext cx="5629937"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SECTION 2</a:t>
            </a:r>
            <a:endParaRPr lang="en-US" sz="1800" dirty="0"/>
          </a:p>
        </p:txBody>
      </p:sp>
      <p:sp>
        <p:nvSpPr>
          <p:cNvPr id="8" name="Text 5"/>
          <p:cNvSpPr/>
          <p:nvPr/>
        </p:nvSpPr>
        <p:spPr>
          <a:xfrm>
            <a:off x="6328994" y="5799906"/>
            <a:ext cx="5629937" cy="336798"/>
          </a:xfrm>
          <a:prstGeom prst="rect">
            <a:avLst/>
          </a:prstGeom>
          <a:noFill/>
          <a:ln/>
        </p:spPr>
        <p:txBody>
          <a:bodyPr wrap="square" lIns="25400" tIns="25400" rIns="25400" bIns="25400" rtlCol="0" anchor="t">
            <a:normAutofit/>
          </a:bodyPr>
          <a:lstStyle/>
          <a:p>
            <a:pPr algn="ctr" indent="0" marL="0">
              <a:lnSpc>
                <a:spcPct val="96492"/>
              </a:lnSpc>
              <a:buNone/>
            </a:pPr>
            <a:r>
              <a:rPr lang="en-US" sz="2100" spc="-21" kern="0" dirty="0">
                <a:solidFill>
                  <a:srgbClr val="FFFFFF"/>
                </a:solidFill>
                <a:latin typeface="Arial" pitchFamily="34" charset="0"/>
                <a:ea typeface="Arial" pitchFamily="34" charset="-122"/>
                <a:cs typeface="Arial" pitchFamily="34" charset="-120"/>
              </a:rPr>
              <a:t>Rules in your pipeline</a:t>
            </a:r>
            <a:endParaRPr lang="en-US" sz="21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03025" y="5511105"/>
            <a:ext cx="419100" cy="419100"/>
          </a:xfrm>
          <a:prstGeom prst="rect">
            <a:avLst/>
          </a:prstGeom>
        </p:spPr>
      </p:pic>
      <p:sp>
        <p:nvSpPr>
          <p:cNvPr id="10" name="Text 6"/>
          <p:cNvSpPr/>
          <p:nvPr/>
        </p:nvSpPr>
        <p:spPr>
          <a:xfrm>
            <a:off x="11866219" y="5342706"/>
            <a:ext cx="5629937"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5BC2A7"/>
                </a:solidFill>
                <a:latin typeface="Arial" pitchFamily="34" charset="0"/>
                <a:ea typeface="Arial" pitchFamily="34" charset="-122"/>
                <a:cs typeface="Arial" pitchFamily="34" charset="-120"/>
              </a:rPr>
              <a:t>SECTION 3</a:t>
            </a:r>
            <a:endParaRPr lang="en-US" sz="1800" dirty="0"/>
          </a:p>
        </p:txBody>
      </p:sp>
      <p:sp>
        <p:nvSpPr>
          <p:cNvPr id="11" name="Text 7"/>
          <p:cNvSpPr/>
          <p:nvPr/>
        </p:nvSpPr>
        <p:spPr>
          <a:xfrm>
            <a:off x="11866219" y="5799906"/>
            <a:ext cx="5629937" cy="336798"/>
          </a:xfrm>
          <a:prstGeom prst="rect">
            <a:avLst/>
          </a:prstGeom>
          <a:noFill/>
          <a:ln/>
        </p:spPr>
        <p:txBody>
          <a:bodyPr wrap="square" lIns="25400" tIns="25400" rIns="25400" bIns="25400" rtlCol="0" anchor="t">
            <a:normAutofit/>
          </a:bodyPr>
          <a:lstStyle/>
          <a:p>
            <a:pPr algn="ctr" indent="0" marL="0">
              <a:lnSpc>
                <a:spcPct val="96492"/>
              </a:lnSpc>
              <a:buNone/>
            </a:pPr>
            <a:r>
              <a:rPr lang="en-US" sz="2100" spc="-21" kern="0" dirty="0">
                <a:solidFill>
                  <a:srgbClr val="FFFFFF"/>
                </a:solidFill>
                <a:latin typeface="Arial" pitchFamily="34" charset="0"/>
                <a:ea typeface="Arial" pitchFamily="34" charset="-122"/>
                <a:cs typeface="Arial" pitchFamily="34" charset="-120"/>
              </a:rPr>
              <a:t>Evidence in your evals</a:t>
            </a:r>
            <a:endParaRPr lang="en-US" sz="2100" dirty="0"/>
          </a:p>
        </p:txBody>
      </p:sp>
      <p:sp>
        <p:nvSpPr>
          <p:cNvPr id="12" name="Text 8"/>
          <p:cNvSpPr/>
          <p:nvPr/>
        </p:nvSpPr>
        <p:spPr>
          <a:xfrm>
            <a:off x="238125" y="6822504"/>
            <a:ext cx="17811750"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Opinions can't live in narrative prose. They can live in structured data and evals.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014737"/>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REAL PRIZE</a:t>
            </a:r>
            <a:endParaRPr lang="en-US" sz="1800" dirty="0"/>
          </a:p>
        </p:txBody>
      </p:sp>
      <p:sp>
        <p:nvSpPr>
          <p:cNvPr id="3" name="Text 1"/>
          <p:cNvSpPr/>
          <p:nvPr/>
        </p:nvSpPr>
        <p:spPr>
          <a:xfrm>
            <a:off x="1047750" y="3719587"/>
            <a:ext cx="17287875"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The Pattern Isn't a Framework. It's Living Context.</a:t>
            </a:r>
            <a:endParaRPr lang="en-US" sz="4500" dirty="0"/>
          </a:p>
        </p:txBody>
      </p:sp>
      <p:sp>
        <p:nvSpPr>
          <p:cNvPr id="4" name="Shape 2"/>
          <p:cNvSpPr/>
          <p:nvPr/>
        </p:nvSpPr>
        <p:spPr>
          <a:xfrm>
            <a:off x="1047750" y="4931122"/>
            <a:ext cx="3705225" cy="19050"/>
          </a:xfrm>
          <a:prstGeom prst="rect">
            <a:avLst/>
          </a:prstGeom>
          <a:solidFill>
            <a:srgbClr val="4597D3"/>
          </a:solidFill>
          <a:ln/>
        </p:spPr>
      </p:sp>
      <p:sp>
        <p:nvSpPr>
          <p:cNvPr id="5" name="Text 3"/>
          <p:cNvSpPr/>
          <p:nvPr/>
        </p:nvSpPr>
        <p:spPr>
          <a:xfrm>
            <a:off x="1047750" y="5159722"/>
            <a:ext cx="4075748" cy="358080"/>
          </a:xfrm>
          <a:prstGeom prst="rect">
            <a:avLst/>
          </a:prstGeom>
          <a:noFill/>
          <a:ln/>
        </p:spPr>
        <p:txBody>
          <a:bodyPr wrap="square" lIns="25400" tIns="25400" rIns="25400" bIns="25400" rtlCol="0" anchor="t">
            <a:normAutofit/>
          </a:bodyPr>
          <a:lstStyle/>
          <a:p>
            <a:pPr algn="l" indent="0" marL="0">
              <a:lnSpc>
                <a:spcPct val="97391"/>
              </a:lnSpc>
              <a:buNone/>
            </a:pPr>
            <a:r>
              <a:rPr lang="en-US" sz="2250" b="1" spc="-22" kern="0" dirty="0">
                <a:solidFill>
                  <a:srgbClr val="FFFFFF"/>
                </a:solidFill>
                <a:latin typeface="Arial" pitchFamily="34" charset="0"/>
                <a:ea typeface="Arial" pitchFamily="34" charset="-122"/>
                <a:cs typeface="Arial" pitchFamily="34" charset="-120"/>
              </a:rPr>
              <a:t>Durable</a:t>
            </a:r>
            <a:endParaRPr lang="en-US" sz="2250" dirty="0"/>
          </a:p>
        </p:txBody>
      </p:sp>
      <p:sp>
        <p:nvSpPr>
          <p:cNvPr id="6" name="Text 4"/>
          <p:cNvSpPr/>
          <p:nvPr/>
        </p:nvSpPr>
        <p:spPr>
          <a:xfrm>
            <a:off x="1047750" y="5574953"/>
            <a:ext cx="4075748"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Survives across sessions.</a:t>
            </a:r>
            <a:endParaRPr lang="en-US" sz="1650" dirty="0"/>
          </a:p>
        </p:txBody>
      </p:sp>
      <p:sp>
        <p:nvSpPr>
          <p:cNvPr id="7" name="Shape 5"/>
          <p:cNvSpPr/>
          <p:nvPr/>
        </p:nvSpPr>
        <p:spPr>
          <a:xfrm>
            <a:off x="5210175" y="4931122"/>
            <a:ext cx="3705225" cy="19050"/>
          </a:xfrm>
          <a:prstGeom prst="rect">
            <a:avLst/>
          </a:prstGeom>
          <a:solidFill>
            <a:srgbClr val="4597D3"/>
          </a:solidFill>
          <a:ln/>
        </p:spPr>
      </p:sp>
      <p:sp>
        <p:nvSpPr>
          <p:cNvPr id="8" name="Text 6"/>
          <p:cNvSpPr/>
          <p:nvPr/>
        </p:nvSpPr>
        <p:spPr>
          <a:xfrm>
            <a:off x="5210175" y="5159722"/>
            <a:ext cx="4075748" cy="358080"/>
          </a:xfrm>
          <a:prstGeom prst="rect">
            <a:avLst/>
          </a:prstGeom>
          <a:noFill/>
          <a:ln/>
        </p:spPr>
        <p:txBody>
          <a:bodyPr wrap="square" lIns="25400" tIns="25400" rIns="25400" bIns="25400" rtlCol="0" anchor="t">
            <a:normAutofit/>
          </a:bodyPr>
          <a:lstStyle/>
          <a:p>
            <a:pPr algn="l" indent="0" marL="0">
              <a:lnSpc>
                <a:spcPct val="97391"/>
              </a:lnSpc>
              <a:buNone/>
            </a:pPr>
            <a:r>
              <a:rPr lang="en-US" sz="2250" b="1" spc="-22" kern="0" dirty="0">
                <a:solidFill>
                  <a:srgbClr val="FFFFFF"/>
                </a:solidFill>
                <a:latin typeface="Arial" pitchFamily="34" charset="0"/>
                <a:ea typeface="Arial" pitchFamily="34" charset="-122"/>
                <a:cs typeface="Arial" pitchFamily="34" charset="-120"/>
              </a:rPr>
              <a:t>Versioned</a:t>
            </a:r>
            <a:endParaRPr lang="en-US" sz="2250" dirty="0"/>
          </a:p>
        </p:txBody>
      </p:sp>
      <p:sp>
        <p:nvSpPr>
          <p:cNvPr id="9" name="Text 7"/>
          <p:cNvSpPr/>
          <p:nvPr/>
        </p:nvSpPr>
        <p:spPr>
          <a:xfrm>
            <a:off x="5210175" y="5574953"/>
            <a:ext cx="4075748"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Diffed, reviewed, rolled back.</a:t>
            </a:r>
            <a:endParaRPr lang="en-US" sz="1650" dirty="0"/>
          </a:p>
        </p:txBody>
      </p:sp>
      <p:sp>
        <p:nvSpPr>
          <p:cNvPr id="10" name="Shape 8"/>
          <p:cNvSpPr/>
          <p:nvPr/>
        </p:nvSpPr>
        <p:spPr>
          <a:xfrm>
            <a:off x="9372600" y="4931122"/>
            <a:ext cx="3705225" cy="19050"/>
          </a:xfrm>
          <a:prstGeom prst="rect">
            <a:avLst/>
          </a:prstGeom>
          <a:solidFill>
            <a:srgbClr val="4597D3"/>
          </a:solidFill>
          <a:ln/>
        </p:spPr>
      </p:sp>
      <p:sp>
        <p:nvSpPr>
          <p:cNvPr id="11" name="Text 9"/>
          <p:cNvSpPr/>
          <p:nvPr/>
        </p:nvSpPr>
        <p:spPr>
          <a:xfrm>
            <a:off x="9372600" y="5159722"/>
            <a:ext cx="4075748" cy="358080"/>
          </a:xfrm>
          <a:prstGeom prst="rect">
            <a:avLst/>
          </a:prstGeom>
          <a:noFill/>
          <a:ln/>
        </p:spPr>
        <p:txBody>
          <a:bodyPr wrap="square" lIns="25400" tIns="25400" rIns="25400" bIns="25400" rtlCol="0" anchor="t">
            <a:normAutofit/>
          </a:bodyPr>
          <a:lstStyle/>
          <a:p>
            <a:pPr algn="l" indent="0" marL="0">
              <a:lnSpc>
                <a:spcPct val="97391"/>
              </a:lnSpc>
              <a:buNone/>
            </a:pPr>
            <a:r>
              <a:rPr lang="en-US" sz="2250" b="1" spc="-22" kern="0" dirty="0">
                <a:solidFill>
                  <a:srgbClr val="FFFFFF"/>
                </a:solidFill>
                <a:latin typeface="Arial" pitchFamily="34" charset="0"/>
                <a:ea typeface="Arial" pitchFamily="34" charset="-122"/>
                <a:cs typeface="Arial" pitchFamily="34" charset="-120"/>
              </a:rPr>
              <a:t>Agent-accessible</a:t>
            </a:r>
            <a:endParaRPr lang="en-US" sz="2250" dirty="0"/>
          </a:p>
        </p:txBody>
      </p:sp>
      <p:sp>
        <p:nvSpPr>
          <p:cNvPr id="12" name="Text 10"/>
          <p:cNvSpPr/>
          <p:nvPr/>
        </p:nvSpPr>
        <p:spPr>
          <a:xfrm>
            <a:off x="9372600" y="5574953"/>
            <a:ext cx="4075748"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Queryable, not just readable.</a:t>
            </a:r>
            <a:endParaRPr lang="en-US" sz="1650" dirty="0"/>
          </a:p>
        </p:txBody>
      </p:sp>
      <p:sp>
        <p:nvSpPr>
          <p:cNvPr id="13" name="Shape 11"/>
          <p:cNvSpPr/>
          <p:nvPr/>
        </p:nvSpPr>
        <p:spPr>
          <a:xfrm>
            <a:off x="13535025" y="4931122"/>
            <a:ext cx="3705225" cy="19050"/>
          </a:xfrm>
          <a:prstGeom prst="rect">
            <a:avLst/>
          </a:prstGeom>
          <a:solidFill>
            <a:srgbClr val="4597D3"/>
          </a:solidFill>
          <a:ln/>
        </p:spPr>
      </p:sp>
      <p:sp>
        <p:nvSpPr>
          <p:cNvPr id="14" name="Text 12"/>
          <p:cNvSpPr/>
          <p:nvPr/>
        </p:nvSpPr>
        <p:spPr>
          <a:xfrm>
            <a:off x="13535025" y="5159722"/>
            <a:ext cx="4075748" cy="358080"/>
          </a:xfrm>
          <a:prstGeom prst="rect">
            <a:avLst/>
          </a:prstGeom>
          <a:noFill/>
          <a:ln/>
        </p:spPr>
        <p:txBody>
          <a:bodyPr wrap="square" lIns="25400" tIns="25400" rIns="25400" bIns="25400" rtlCol="0" anchor="t">
            <a:normAutofit/>
          </a:bodyPr>
          <a:lstStyle/>
          <a:p>
            <a:pPr algn="l" indent="0" marL="0">
              <a:lnSpc>
                <a:spcPct val="97391"/>
              </a:lnSpc>
              <a:buNone/>
            </a:pPr>
            <a:r>
              <a:rPr lang="en-US" sz="2250" b="1" spc="-22" kern="0" dirty="0">
                <a:solidFill>
                  <a:srgbClr val="FFFFFF"/>
                </a:solidFill>
                <a:latin typeface="Arial" pitchFamily="34" charset="0"/>
                <a:ea typeface="Arial" pitchFamily="34" charset="-122"/>
                <a:cs typeface="Arial" pitchFamily="34" charset="-120"/>
              </a:rPr>
              <a:t>Enterprise-integrated</a:t>
            </a:r>
            <a:endParaRPr lang="en-US" sz="2250" dirty="0"/>
          </a:p>
        </p:txBody>
      </p:sp>
      <p:sp>
        <p:nvSpPr>
          <p:cNvPr id="15" name="Text 13"/>
          <p:cNvSpPr/>
          <p:nvPr/>
        </p:nvSpPr>
        <p:spPr>
          <a:xfrm>
            <a:off x="13535025" y="5574953"/>
            <a:ext cx="4075748"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Connected to your system of record.</a:t>
            </a:r>
            <a:endParaRPr lang="en-US" sz="1650" dirty="0"/>
          </a:p>
        </p:txBody>
      </p:sp>
      <p:sp>
        <p:nvSpPr>
          <p:cNvPr id="16" name="Text 14"/>
          <p:cNvSpPr/>
          <p:nvPr/>
        </p:nvSpPr>
        <p:spPr>
          <a:xfrm>
            <a:off x="1047750" y="6498878"/>
            <a:ext cx="16187738" cy="963811"/>
          </a:xfrm>
          <a:prstGeom prst="rect">
            <a:avLst/>
          </a:prstGeom>
          <a:noFill/>
          <a:ln/>
        </p:spPr>
        <p:txBody>
          <a:bodyPr wrap="square" lIns="25400" tIns="25400" rIns="25400" bIns="25400" rtlCol="0" anchor="t">
            <a:normAutofit/>
          </a:bodyPr>
          <a:lstStyle/>
          <a:p>
            <a:pPr algn="l" indent="0" marL="0">
              <a:lnSpc>
                <a:spcPct val="118537"/>
              </a:lnSpc>
              <a:buNone/>
            </a:pPr>
            <a:r>
              <a:rPr lang="en-US" sz="2700" spc="-27" kern="0" dirty="0">
                <a:solidFill>
                  <a:srgbClr val="FFFFFF"/>
                </a:solidFill>
                <a:latin typeface="Arial" pitchFamily="34" charset="0"/>
                <a:ea typeface="Arial" pitchFamily="34" charset="-122"/>
                <a:cs typeface="Arial" pitchFamily="34" charset="-120"/>
              </a:rPr>
              <a:t>"Not a static file. A living, structured, queryable source of truth that agents read from and write back to."</a:t>
            </a:r>
            <a:endParaRPr lang="en-US" sz="2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213720"/>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F5BB41"/>
                </a:solidFill>
                <a:latin typeface="Arial" pitchFamily="34" charset="0"/>
                <a:ea typeface="Arial" pitchFamily="34" charset="-122"/>
                <a:cs typeface="Arial" pitchFamily="34" charset="-120"/>
              </a:rPr>
              <a:t>LIVE DEMO · 01</a:t>
            </a:r>
            <a:endParaRPr lang="en-US" sz="1800" dirty="0"/>
          </a:p>
        </p:txBody>
      </p:sp>
      <p:sp>
        <p:nvSpPr>
          <p:cNvPr id="3" name="Text 1"/>
          <p:cNvSpPr/>
          <p:nvPr/>
        </p:nvSpPr>
        <p:spPr>
          <a:xfrm>
            <a:off x="1047750" y="3918570"/>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The Context Island vs. Living Context</a:t>
            </a:r>
            <a:endParaRPr lang="en-US" sz="4500" dirty="0"/>
          </a:p>
        </p:txBody>
      </p:sp>
      <p:sp>
        <p:nvSpPr>
          <p:cNvPr id="4" name="Shape 2"/>
          <p:cNvSpPr/>
          <p:nvPr/>
        </p:nvSpPr>
        <p:spPr>
          <a:xfrm>
            <a:off x="9134475" y="5092005"/>
            <a:ext cx="9525" cy="1219200"/>
          </a:xfrm>
          <a:prstGeom prst="rect">
            <a:avLst/>
          </a:prstGeom>
          <a:solidFill>
            <a:srgbClr val="FFFFFF">
              <a:alpha val="14000"/>
            </a:srgbClr>
          </a:solidFill>
          <a:ln/>
        </p:spPr>
      </p:sp>
      <p:sp>
        <p:nvSpPr>
          <p:cNvPr id="5" name="Text 3"/>
          <p:cNvSpPr/>
          <p:nvPr/>
        </p:nvSpPr>
        <p:spPr>
          <a:xfrm>
            <a:off x="1047750" y="5092005"/>
            <a:ext cx="8266748"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CONTEXT ISLAND</a:t>
            </a:r>
            <a:endParaRPr lang="en-US" sz="1800" dirty="0"/>
          </a:p>
        </p:txBody>
      </p:sp>
      <p:sp>
        <p:nvSpPr>
          <p:cNvPr id="6" name="Text 4"/>
          <p:cNvSpPr/>
          <p:nvPr/>
        </p:nvSpPr>
        <p:spPr>
          <a:xfrm>
            <a:off x="1047750" y="5568255"/>
            <a:ext cx="7740682" cy="781050"/>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Spec locked in a local markdown file — no connection to project tracking, CI, or team context.</a:t>
            </a:r>
            <a:endParaRPr lang="en-US" sz="1950" dirty="0"/>
          </a:p>
        </p:txBody>
      </p:sp>
      <p:sp>
        <p:nvSpPr>
          <p:cNvPr id="7" name="Text 5"/>
          <p:cNvSpPr/>
          <p:nvPr/>
        </p:nvSpPr>
        <p:spPr>
          <a:xfrm>
            <a:off x="9715500" y="5092005"/>
            <a:ext cx="8277225"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5BC2A7"/>
                </a:solidFill>
                <a:latin typeface="Arial" pitchFamily="34" charset="0"/>
                <a:ea typeface="Arial" pitchFamily="34" charset="-122"/>
                <a:cs typeface="Arial" pitchFamily="34" charset="-120"/>
              </a:rPr>
              <a:t>LIVING CONTEXT</a:t>
            </a:r>
            <a:endParaRPr lang="en-US" sz="1800" dirty="0"/>
          </a:p>
        </p:txBody>
      </p:sp>
      <p:sp>
        <p:nvSpPr>
          <p:cNvPr id="8" name="Text 6"/>
          <p:cNvSpPr/>
          <p:nvPr/>
        </p:nvSpPr>
        <p:spPr>
          <a:xfrm>
            <a:off x="9715500" y="5568255"/>
            <a:ext cx="7750492" cy="781050"/>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Same spec as structured data — accessible to agents, integrated with your enterprise system.</a:t>
            </a:r>
            <a:endParaRPr lang="en-US" sz="1950" dirty="0"/>
          </a:p>
        </p:txBody>
      </p:sp>
      <p:sp>
        <p:nvSpPr>
          <p:cNvPr id="9" name="Text 7"/>
          <p:cNvSpPr/>
          <p:nvPr/>
        </p:nvSpPr>
        <p:spPr>
          <a:xfrm>
            <a:off x="1047750" y="6882705"/>
            <a:ext cx="16764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Notice how the agent working from the isolated file has no connection to your existing project tracking — and how Living Context bridges that gap.</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41F"/>
        </a:solidFill>
      </p:bgPr>
    </p:bg>
    <p:spTree>
      <p:nvGrpSpPr>
        <p:cNvPr id="1" name=""/>
        <p:cNvGrpSpPr/>
        <p:nvPr/>
      </p:nvGrpSpPr>
      <p:grpSpPr>
        <a:xfrm>
          <a:off x="0" y="0"/>
          <a:ext cx="0" cy="0"/>
          <a:chOff x="0" y="0"/>
          <a:chExt cx="0" cy="0"/>
        </a:xfrm>
      </p:grpSpPr>
      <p:sp>
        <p:nvSpPr>
          <p:cNvPr id="2" name="Text 0"/>
          <p:cNvSpPr/>
          <p:nvPr/>
        </p:nvSpPr>
        <p:spPr>
          <a:xfrm>
            <a:off x="1047750" y="4080867"/>
            <a:ext cx="169539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SECTION 02</a:t>
            </a:r>
            <a:endParaRPr lang="en-US" sz="1800" dirty="0"/>
          </a:p>
        </p:txBody>
      </p:sp>
      <p:sp>
        <p:nvSpPr>
          <p:cNvPr id="3" name="Text 1"/>
          <p:cNvSpPr/>
          <p:nvPr/>
        </p:nvSpPr>
        <p:spPr>
          <a:xfrm>
            <a:off x="1047750" y="4633317"/>
            <a:ext cx="14164434" cy="848841"/>
          </a:xfrm>
          <a:prstGeom prst="rect">
            <a:avLst/>
          </a:prstGeom>
          <a:noFill/>
          <a:ln/>
        </p:spPr>
        <p:txBody>
          <a:bodyPr wrap="square" lIns="25400" tIns="25400" rIns="25400" bIns="25400" rtlCol="0" anchor="t">
            <a:normAutofit/>
          </a:bodyPr>
          <a:lstStyle/>
          <a:p>
            <a:pPr algn="l" indent="0" marL="0">
              <a:lnSpc>
                <a:spcPct val="97280"/>
              </a:lnSpc>
              <a:buNone/>
            </a:pPr>
            <a:r>
              <a:rPr lang="en-US" sz="5700" b="1" spc="-57" kern="0" dirty="0">
                <a:solidFill>
                  <a:srgbClr val="FFFFFF"/>
                </a:solidFill>
                <a:latin typeface="Arial" pitchFamily="34" charset="0"/>
                <a:ea typeface="Arial" pitchFamily="34" charset="-122"/>
                <a:cs typeface="Arial" pitchFamily="34" charset="-120"/>
              </a:rPr>
              <a:t>Making Context Machine-Readable</a:t>
            </a:r>
            <a:endParaRPr lang="en-US" sz="5700" dirty="0"/>
          </a:p>
        </p:txBody>
      </p:sp>
      <p:sp>
        <p:nvSpPr>
          <p:cNvPr id="4" name="Text 2"/>
          <p:cNvSpPr/>
          <p:nvPr/>
        </p:nvSpPr>
        <p:spPr>
          <a:xfrm>
            <a:off x="1047750" y="5863158"/>
            <a:ext cx="7419298"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4597D3"/>
                </a:solidFill>
                <a:latin typeface="Arial" pitchFamily="34" charset="0"/>
                <a:ea typeface="Arial" pitchFamily="34" charset="-122"/>
                <a:cs typeface="Arial" pitchFamily="34" charset="-120"/>
              </a:rPr>
              <a:t>Unstructured input </a:t>
            </a:r>
            <a:pPr algn="l" indent="0" marL="0">
              <a:lnSpc>
                <a:spcPct val="130909"/>
              </a:lnSpc>
              <a:buNone/>
            </a:pPr>
            <a:r>
              <a:rPr lang="en-US" sz="1800" dirty="0">
                <a:solidFill>
                  <a:srgbClr val="6F8393"/>
                </a:solidFill>
                <a:latin typeface="Arial" pitchFamily="34" charset="0"/>
                <a:ea typeface="Arial" pitchFamily="34" charset="-122"/>
                <a:cs typeface="Arial" pitchFamily="34" charset="-120"/>
              </a:rPr>
              <a:t>→ </a:t>
            </a:r>
            <a:pPr algn="l" indent="0" marL="0">
              <a:lnSpc>
                <a:spcPct val="130909"/>
              </a:lnSpc>
              <a:buNone/>
            </a:pPr>
            <a:r>
              <a:rPr lang="en-US" sz="1800" dirty="0">
                <a:solidFill>
                  <a:srgbClr val="4597D3"/>
                </a:solidFill>
                <a:latin typeface="Arial" pitchFamily="34" charset="0"/>
                <a:ea typeface="Arial" pitchFamily="34" charset="-122"/>
                <a:cs typeface="Arial" pitchFamily="34" charset="-120"/>
              </a:rPr>
              <a:t>Structured output </a:t>
            </a:r>
            <a:pPr algn="l" indent="0" marL="0">
              <a:lnSpc>
                <a:spcPct val="130909"/>
              </a:lnSpc>
              <a:buNone/>
            </a:pPr>
            <a:r>
              <a:rPr lang="en-US" sz="1800" dirty="0">
                <a:solidFill>
                  <a:srgbClr val="6F8393"/>
                </a:solidFill>
                <a:latin typeface="Arial" pitchFamily="34" charset="0"/>
                <a:ea typeface="Arial" pitchFamily="34" charset="-122"/>
                <a:cs typeface="Arial" pitchFamily="34" charset="-120"/>
              </a:rPr>
              <a:t>→ </a:t>
            </a:r>
            <a:pPr algn="l" indent="0" marL="0">
              <a:lnSpc>
                <a:spcPct val="130909"/>
              </a:lnSpc>
              <a:buNone/>
            </a:pPr>
            <a:r>
              <a:rPr lang="en-US" sz="1800" dirty="0">
                <a:solidFill>
                  <a:srgbClr val="4597D3"/>
                </a:solidFill>
                <a:latin typeface="Arial" pitchFamily="34" charset="0"/>
                <a:ea typeface="Arial" pitchFamily="34" charset="-122"/>
                <a:cs typeface="Arial" pitchFamily="34" charset="-120"/>
              </a:rPr>
              <a:t>Deterministic validation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523283"/>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MAKING CONTEXT MACHINE-READABLE</a:t>
            </a:r>
            <a:endParaRPr lang="en-US" sz="1800" dirty="0"/>
          </a:p>
        </p:txBody>
      </p:sp>
      <p:sp>
        <p:nvSpPr>
          <p:cNvPr id="3" name="Text 1"/>
          <p:cNvSpPr/>
          <p:nvPr/>
        </p:nvSpPr>
        <p:spPr>
          <a:xfrm>
            <a:off x="1047750" y="4228133"/>
            <a:ext cx="17287875"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Agents Can Read Prose. They Can't Rely On It.</a:t>
            </a:r>
            <a:endParaRPr lang="en-US" sz="4500" dirty="0"/>
          </a:p>
        </p:txBody>
      </p:sp>
      <p:sp>
        <p:nvSpPr>
          <p:cNvPr id="4" name="Text 2"/>
          <p:cNvSpPr/>
          <p:nvPr/>
        </p:nvSpPr>
        <p:spPr>
          <a:xfrm>
            <a:off x="1047750" y="5363468"/>
            <a:ext cx="16240125" cy="4667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Meeting transcripts, client emails, PDFs, Jira descriptions — all unstructured.</a:t>
            </a:r>
            <a:endParaRPr lang="en-US" sz="2250" dirty="0"/>
          </a:p>
        </p:txBody>
      </p:sp>
      <p:sp>
        <p:nvSpPr>
          <p:cNvPr id="5" name="Text 3"/>
          <p:cNvSpPr/>
          <p:nvPr/>
        </p:nvSpPr>
        <p:spPr>
          <a:xfrm>
            <a:off x="1047750" y="6058793"/>
            <a:ext cx="15206662"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FFFFFF"/>
                </a:solidFill>
                <a:latin typeface="Arial" pitchFamily="34" charset="0"/>
                <a:ea typeface="Arial" pitchFamily="34" charset="-122"/>
                <a:cs typeface="Arial" pitchFamily="34" charset="-120"/>
              </a:rPr>
              <a:t>Agents can parse prose, but "plausible" parsing is not "reliable" parsing. They can't extract constraints, validate structure, or enforce consistency from free text.</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886075"/>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MAKING CONTEXT MACHINE-READABLE</a:t>
            </a:r>
            <a:endParaRPr lang="en-US" sz="1800" dirty="0"/>
          </a:p>
        </p:txBody>
      </p:sp>
      <p:sp>
        <p:nvSpPr>
          <p:cNvPr id="3" name="Text 1"/>
          <p:cNvSpPr/>
          <p:nvPr/>
        </p:nvSpPr>
        <p:spPr>
          <a:xfrm>
            <a:off x="1047750" y="3590925"/>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LLM as Transformer: Unstructured → Structured</a:t>
            </a:r>
            <a:endParaRPr lang="en-US" sz="45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82130" y="4916760"/>
            <a:ext cx="495300" cy="495300"/>
          </a:xfrm>
          <a:prstGeom prst="rect">
            <a:avLst/>
          </a:prstGeom>
        </p:spPr>
      </p:pic>
      <p:sp>
        <p:nvSpPr>
          <p:cNvPr id="5" name="Text 2"/>
          <p:cNvSpPr/>
          <p:nvPr/>
        </p:nvSpPr>
        <p:spPr>
          <a:xfrm>
            <a:off x="899543" y="5602560"/>
            <a:ext cx="3260549" cy="352425"/>
          </a:xfrm>
          <a:prstGeom prst="rect">
            <a:avLst/>
          </a:prstGeom>
          <a:noFill/>
          <a:ln/>
        </p:spPr>
        <p:txBody>
          <a:bodyPr wrap="square" lIns="25400" tIns="25400" rIns="25400" bIns="25400" rtlCol="0" anchor="t">
            <a:normAutofit/>
          </a:bodyPr>
          <a:lstStyle/>
          <a:p>
            <a:pPr algn="ctr" indent="0" marL="0">
              <a:lnSpc>
                <a:spcPct val="132000"/>
              </a:lnSpc>
              <a:buNone/>
            </a:pPr>
            <a:r>
              <a:rPr lang="en-US" sz="1650" dirty="0">
                <a:solidFill>
                  <a:srgbClr val="AEC0CE"/>
                </a:solidFill>
                <a:latin typeface="Arial" pitchFamily="34" charset="0"/>
                <a:ea typeface="Arial" pitchFamily="34" charset="-122"/>
                <a:cs typeface="Arial" pitchFamily="34" charset="-120"/>
              </a:rPr>
              <a:t>Transcript / Email / PDF</a:t>
            </a:r>
            <a:endParaRPr lang="en-US" sz="16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11885" y="5245373"/>
            <a:ext cx="342900" cy="342900"/>
          </a:xfrm>
          <a:prstGeom prst="rect">
            <a:avLst/>
          </a:prstGeom>
        </p:spPr>
      </p:pic>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9240" y="4916760"/>
            <a:ext cx="495300" cy="495300"/>
          </a:xfrm>
          <a:prstGeom prst="rect">
            <a:avLst/>
          </a:prstGeom>
        </p:spPr>
      </p:pic>
      <p:sp>
        <p:nvSpPr>
          <p:cNvPr id="8" name="Text 3"/>
          <p:cNvSpPr/>
          <p:nvPr/>
        </p:nvSpPr>
        <p:spPr>
          <a:xfrm>
            <a:off x="4206575" y="5602560"/>
            <a:ext cx="3260631" cy="352425"/>
          </a:xfrm>
          <a:prstGeom prst="rect">
            <a:avLst/>
          </a:prstGeom>
          <a:noFill/>
          <a:ln/>
        </p:spPr>
        <p:txBody>
          <a:bodyPr wrap="square" lIns="25400" tIns="25400" rIns="25400" bIns="25400" rtlCol="0" anchor="t">
            <a:normAutofit/>
          </a:bodyPr>
          <a:lstStyle/>
          <a:p>
            <a:pPr algn="ctr" indent="0" marL="0">
              <a:lnSpc>
                <a:spcPct val="132000"/>
              </a:lnSpc>
              <a:buNone/>
            </a:pPr>
            <a:r>
              <a:rPr lang="en-US" sz="1650" dirty="0">
                <a:solidFill>
                  <a:srgbClr val="AEC0CE"/>
                </a:solidFill>
                <a:latin typeface="Arial" pitchFamily="34" charset="0"/>
                <a:ea typeface="Arial" pitchFamily="34" charset="-122"/>
                <a:cs typeface="Arial" pitchFamily="34" charset="-120"/>
              </a:rPr>
              <a:t>LLM + Schema</a:t>
            </a:r>
            <a:endParaRPr lang="en-US" sz="16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18995" y="5245373"/>
            <a:ext cx="342900" cy="342900"/>
          </a:xfrm>
          <a:prstGeom prst="rect">
            <a:avLst/>
          </a:prstGeom>
        </p:spPr>
      </p:pic>
      <p:pic>
        <p:nvPicPr>
          <p:cNvPr id="1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96276" y="4916760"/>
            <a:ext cx="495300" cy="495300"/>
          </a:xfrm>
          <a:prstGeom prst="rect">
            <a:avLst/>
          </a:prstGeom>
        </p:spPr>
      </p:pic>
      <p:sp>
        <p:nvSpPr>
          <p:cNvPr id="11" name="Text 4"/>
          <p:cNvSpPr/>
          <p:nvPr/>
        </p:nvSpPr>
        <p:spPr>
          <a:xfrm>
            <a:off x="7513688" y="5602560"/>
            <a:ext cx="3260549" cy="352425"/>
          </a:xfrm>
          <a:prstGeom prst="rect">
            <a:avLst/>
          </a:prstGeom>
          <a:noFill/>
          <a:ln/>
        </p:spPr>
        <p:txBody>
          <a:bodyPr wrap="square" lIns="25400" tIns="25400" rIns="25400" bIns="25400" rtlCol="0" anchor="t">
            <a:normAutofit/>
          </a:bodyPr>
          <a:lstStyle/>
          <a:p>
            <a:pPr algn="ctr" indent="0" marL="0">
              <a:lnSpc>
                <a:spcPct val="132000"/>
              </a:lnSpc>
              <a:buNone/>
            </a:pPr>
            <a:r>
              <a:rPr lang="en-US" sz="1650" dirty="0">
                <a:solidFill>
                  <a:srgbClr val="AEC0CE"/>
                </a:solidFill>
                <a:latin typeface="Arial" pitchFamily="34" charset="0"/>
                <a:ea typeface="Arial" pitchFamily="34" charset="-122"/>
                <a:cs typeface="Arial" pitchFamily="34" charset="-120"/>
              </a:rPr>
              <a:t>Structured YAML / JSON</a:t>
            </a:r>
            <a:endParaRPr lang="en-US" sz="1650" dirty="0"/>
          </a:p>
        </p:txBody>
      </p:sp>
      <p:pic>
        <p:nvPicPr>
          <p:cNvPr id="1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626030" y="5245373"/>
            <a:ext cx="342900" cy="342900"/>
          </a:xfrm>
          <a:prstGeom prst="rect">
            <a:avLst/>
          </a:prstGeom>
        </p:spPr>
      </p:pic>
      <p:pic>
        <p:nvPicPr>
          <p:cNvPr id="1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203385" y="4916760"/>
            <a:ext cx="495300" cy="495300"/>
          </a:xfrm>
          <a:prstGeom prst="rect">
            <a:avLst/>
          </a:prstGeom>
        </p:spPr>
      </p:pic>
      <p:sp>
        <p:nvSpPr>
          <p:cNvPr id="14" name="Text 5"/>
          <p:cNvSpPr/>
          <p:nvPr/>
        </p:nvSpPr>
        <p:spPr>
          <a:xfrm>
            <a:off x="10820720" y="5602560"/>
            <a:ext cx="3260631" cy="352425"/>
          </a:xfrm>
          <a:prstGeom prst="rect">
            <a:avLst/>
          </a:prstGeom>
          <a:noFill/>
          <a:ln/>
        </p:spPr>
        <p:txBody>
          <a:bodyPr wrap="square" lIns="25400" tIns="25400" rIns="25400" bIns="25400" rtlCol="0" anchor="t">
            <a:normAutofit/>
          </a:bodyPr>
          <a:lstStyle/>
          <a:p>
            <a:pPr algn="ctr" indent="0" marL="0">
              <a:lnSpc>
                <a:spcPct val="132000"/>
              </a:lnSpc>
              <a:buNone/>
            </a:pPr>
            <a:r>
              <a:rPr lang="en-US" sz="1650" dirty="0">
                <a:solidFill>
                  <a:srgbClr val="AEC0CE"/>
                </a:solidFill>
                <a:latin typeface="Arial" pitchFamily="34" charset="0"/>
                <a:ea typeface="Arial" pitchFamily="34" charset="-122"/>
                <a:cs typeface="Arial" pitchFamily="34" charset="-120"/>
              </a:rPr>
              <a:t>Validation Script</a:t>
            </a:r>
            <a:endParaRPr lang="en-US" sz="1650" dirty="0"/>
          </a:p>
        </p:txBody>
      </p:sp>
      <p:pic>
        <p:nvPicPr>
          <p:cNvPr id="1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933140" y="5245373"/>
            <a:ext cx="342900" cy="342900"/>
          </a:xfrm>
          <a:prstGeom prst="rect">
            <a:avLst/>
          </a:prstGeom>
        </p:spPr>
      </p:pic>
      <p:pic>
        <p:nvPicPr>
          <p:cNvPr id="16"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5510495" y="4916760"/>
            <a:ext cx="495300" cy="495300"/>
          </a:xfrm>
          <a:prstGeom prst="rect">
            <a:avLst/>
          </a:prstGeom>
        </p:spPr>
      </p:pic>
      <p:sp>
        <p:nvSpPr>
          <p:cNvPr id="17" name="Text 6"/>
          <p:cNvSpPr/>
          <p:nvPr/>
        </p:nvSpPr>
        <p:spPr>
          <a:xfrm>
            <a:off x="14127830" y="5602560"/>
            <a:ext cx="3260631" cy="352425"/>
          </a:xfrm>
          <a:prstGeom prst="rect">
            <a:avLst/>
          </a:prstGeom>
          <a:noFill/>
          <a:ln/>
        </p:spPr>
        <p:txBody>
          <a:bodyPr wrap="square" lIns="25400" tIns="25400" rIns="25400" bIns="25400" rtlCol="0" anchor="t">
            <a:normAutofit/>
          </a:bodyPr>
          <a:lstStyle/>
          <a:p>
            <a:pPr algn="ctr" indent="0" marL="0">
              <a:lnSpc>
                <a:spcPct val="132000"/>
              </a:lnSpc>
              <a:buNone/>
            </a:pPr>
            <a:r>
              <a:rPr lang="en-US" sz="1650" dirty="0">
                <a:solidFill>
                  <a:srgbClr val="AEC0CE"/>
                </a:solidFill>
                <a:latin typeface="Arial" pitchFamily="34" charset="0"/>
                <a:ea typeface="Arial" pitchFamily="34" charset="-122"/>
                <a:cs typeface="Arial" pitchFamily="34" charset="-120"/>
              </a:rPr>
              <a:t>Pass / Fail</a:t>
            </a:r>
            <a:endParaRPr lang="en-US" sz="1650" dirty="0"/>
          </a:p>
        </p:txBody>
      </p:sp>
      <p:sp>
        <p:nvSpPr>
          <p:cNvPr id="18" name="Text 7"/>
          <p:cNvSpPr/>
          <p:nvPr/>
        </p:nvSpPr>
        <p:spPr>
          <a:xfrm>
            <a:off x="1047750" y="6678885"/>
            <a:ext cx="16187738" cy="912465"/>
          </a:xfrm>
          <a:prstGeom prst="rect">
            <a:avLst/>
          </a:prstGeom>
          <a:noFill/>
          <a:ln/>
        </p:spPr>
        <p:txBody>
          <a:bodyPr wrap="square" lIns="25400" tIns="25400" rIns="25400" bIns="25400" rtlCol="0" anchor="t">
            <a:normAutofit/>
          </a:bodyPr>
          <a:lstStyle/>
          <a:p>
            <a:pPr algn="l" indent="0" marL="0">
              <a:lnSpc>
                <a:spcPct val="117692"/>
              </a:lnSpc>
              <a:buNone/>
            </a:pPr>
            <a:r>
              <a:rPr lang="en-US" sz="2550" spc="-25" kern="0" dirty="0">
                <a:solidFill>
                  <a:srgbClr val="FFFFFF"/>
                </a:solidFill>
                <a:latin typeface="Arial" pitchFamily="34" charset="0"/>
                <a:ea typeface="Arial" pitchFamily="34" charset="-122"/>
                <a:cs typeface="Arial" pitchFamily="34" charset="-120"/>
              </a:rPr>
              <a:t>"This is not RAG. You're not searching unstructured text; you're converting it into a format that can be programmatically verified."</a:t>
            </a:r>
            <a:endParaRPr lang="en-US" sz="2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980358"/>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MAKING CONTEXT MACHINE-READABLE</a:t>
            </a:r>
            <a:endParaRPr lang="en-US" sz="1800" dirty="0"/>
          </a:p>
        </p:txBody>
      </p:sp>
      <p:sp>
        <p:nvSpPr>
          <p:cNvPr id="3" name="Text 1"/>
          <p:cNvSpPr/>
          <p:nvPr/>
        </p:nvSpPr>
        <p:spPr>
          <a:xfrm>
            <a:off x="1047750" y="3685208"/>
            <a:ext cx="17287875"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From Hopes in a Prompt to Rules in Your Pipeline</a:t>
            </a:r>
            <a:endParaRPr lang="en-US" sz="4500" dirty="0"/>
          </a:p>
        </p:txBody>
      </p:sp>
      <p:sp>
        <p:nvSpPr>
          <p:cNvPr id="4" name="Text 2"/>
          <p:cNvSpPr/>
          <p:nvPr/>
        </p:nvSpPr>
        <p:spPr>
          <a:xfrm>
            <a:off x="1047750" y="4858643"/>
            <a:ext cx="670560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solidFill>
                <a:latin typeface="Arial" pitchFamily="34" charset="0"/>
                <a:ea typeface="Arial" pitchFamily="34" charset="-122"/>
                <a:cs typeface="Arial" pitchFamily="34" charset="-120"/>
              </a:rPr>
              <a:t>"We always use result objects"</a:t>
            </a:r>
            <a:endParaRPr lang="en-US" sz="1950" dirty="0"/>
          </a:p>
        </p:txBody>
      </p:sp>
      <p:sp>
        <p:nvSpPr>
          <p:cNvPr id="5" name="Text 3"/>
          <p:cNvSpPr/>
          <p:nvPr/>
        </p:nvSpPr>
        <p:spPr>
          <a:xfrm>
            <a:off x="7524750" y="4877693"/>
            <a:ext cx="6827974"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BC2A7"/>
                </a:solidFill>
                <a:latin typeface="Arial" pitchFamily="34" charset="0"/>
                <a:ea typeface="Arial" pitchFamily="34" charset="-122"/>
                <a:cs typeface="Arial" pitchFamily="34" charset="-120"/>
              </a:rPr>
              <a:t>→ schema constraint that rejects plans without error handling</a:t>
            </a:r>
            <a:endParaRPr lang="en-US" sz="1800" dirty="0"/>
          </a:p>
        </p:txBody>
      </p:sp>
      <p:sp>
        <p:nvSpPr>
          <p:cNvPr id="6" name="Text 4"/>
          <p:cNvSpPr/>
          <p:nvPr/>
        </p:nvSpPr>
        <p:spPr>
          <a:xfrm>
            <a:off x="1047750" y="5515868"/>
            <a:ext cx="670560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solidFill>
                <a:latin typeface="Arial" pitchFamily="34" charset="0"/>
                <a:ea typeface="Arial" pitchFamily="34" charset="-122"/>
                <a:cs typeface="Arial" pitchFamily="34" charset="-120"/>
              </a:rPr>
              <a:t>"Our APIs use ProblemDetails"</a:t>
            </a:r>
            <a:endParaRPr lang="en-US" sz="1950" dirty="0"/>
          </a:p>
        </p:txBody>
      </p:sp>
      <p:sp>
        <p:nvSpPr>
          <p:cNvPr id="7" name="Text 5"/>
          <p:cNvSpPr/>
          <p:nvPr/>
        </p:nvSpPr>
        <p:spPr>
          <a:xfrm>
            <a:off x="7524750" y="5534918"/>
            <a:ext cx="782571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BC2A7"/>
                </a:solidFill>
                <a:latin typeface="Arial" pitchFamily="34" charset="0"/>
                <a:ea typeface="Arial" pitchFamily="34" charset="-122"/>
                <a:cs typeface="Arial" pitchFamily="34" charset="-120"/>
              </a:rPr>
              <a:t>→ deterministic hook that rejects code that throws instead of returning</a:t>
            </a:r>
            <a:endParaRPr lang="en-US" sz="1800" dirty="0"/>
          </a:p>
        </p:txBody>
      </p:sp>
      <p:sp>
        <p:nvSpPr>
          <p:cNvPr id="8" name="Text 6"/>
          <p:cNvSpPr/>
          <p:nvPr/>
        </p:nvSpPr>
        <p:spPr>
          <a:xfrm>
            <a:off x="1047750" y="6173093"/>
            <a:ext cx="670560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solidFill>
                <a:latin typeface="Arial" pitchFamily="34" charset="0"/>
                <a:ea typeface="Arial" pitchFamily="34" charset="-122"/>
                <a:cs typeface="Arial" pitchFamily="34" charset="-120"/>
              </a:rPr>
              <a:t>"Every story has our AC format"</a:t>
            </a:r>
            <a:endParaRPr lang="en-US" sz="1950" dirty="0"/>
          </a:p>
        </p:txBody>
      </p:sp>
      <p:sp>
        <p:nvSpPr>
          <p:cNvPr id="9" name="Text 7"/>
          <p:cNvSpPr/>
          <p:nvPr/>
        </p:nvSpPr>
        <p:spPr>
          <a:xfrm>
            <a:off x="7524750" y="6192143"/>
            <a:ext cx="649474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BC2A7"/>
                </a:solidFill>
                <a:latin typeface="Arial" pitchFamily="34" charset="0"/>
                <a:ea typeface="Arial" pitchFamily="34" charset="-122"/>
                <a:cs typeface="Arial" pitchFamily="34" charset="-120"/>
              </a:rPr>
              <a:t>→ adversarial agent that checks for your definition of done</a:t>
            </a:r>
            <a:endParaRPr lang="en-US" sz="1800" dirty="0"/>
          </a:p>
        </p:txBody>
      </p:sp>
      <p:sp>
        <p:nvSpPr>
          <p:cNvPr id="10" name="Text 8"/>
          <p:cNvSpPr/>
          <p:nvPr/>
        </p:nvSpPr>
        <p:spPr>
          <a:xfrm>
            <a:off x="1047750" y="7116068"/>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i="1" dirty="0">
                <a:solidFill>
                  <a:srgbClr val="6F8393"/>
                </a:solidFill>
                <a:latin typeface="Arial" pitchFamily="34" charset="0"/>
                <a:ea typeface="Arial" pitchFamily="34" charset="-122"/>
                <a:cs typeface="Arial" pitchFamily="34" charset="-120"/>
              </a:rPr>
              <a:t>No demo here — this is a conceptual bridge. Your opinions graduate from prose to enforcement.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722438"/>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MAKING CONTEXT MACHINE-READABLE</a:t>
            </a:r>
            <a:endParaRPr lang="en-US" sz="1800" dirty="0"/>
          </a:p>
        </p:txBody>
      </p:sp>
      <p:sp>
        <p:nvSpPr>
          <p:cNvPr id="3" name="Text 1"/>
          <p:cNvSpPr/>
          <p:nvPr/>
        </p:nvSpPr>
        <p:spPr>
          <a:xfrm>
            <a:off x="1047750" y="3427288"/>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Your Enterprise System Is the Backbone</a:t>
            </a:r>
            <a:endParaRPr lang="en-US" sz="4500" dirty="0"/>
          </a:p>
        </p:txBody>
      </p:sp>
      <p:sp>
        <p:nvSpPr>
          <p:cNvPr id="4" name="Text 2"/>
          <p:cNvSpPr/>
          <p:nvPr/>
        </p:nvSpPr>
        <p:spPr>
          <a:xfrm>
            <a:off x="1047750" y="4524524"/>
            <a:ext cx="16240125" cy="466725"/>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In place of local YAML files, structured data can live in:</a:t>
            </a:r>
            <a:endParaRPr lang="en-US" sz="2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51025" y="5296049"/>
            <a:ext cx="495300" cy="495300"/>
          </a:xfrm>
          <a:prstGeom prst="rect">
            <a:avLst/>
          </a:prstGeom>
        </p:spPr>
      </p:pic>
      <p:sp>
        <p:nvSpPr>
          <p:cNvPr id="6" name="Text 3"/>
          <p:cNvSpPr/>
          <p:nvPr/>
        </p:nvSpPr>
        <p:spPr>
          <a:xfrm>
            <a:off x="1047750" y="5943749"/>
            <a:ext cx="1872116"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Jira custom fields</a:t>
            </a:r>
            <a:endParaRPr lang="en-US" sz="18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78846" y="5296049"/>
            <a:ext cx="495300" cy="495300"/>
          </a:xfrm>
          <a:prstGeom prst="rect">
            <a:avLst/>
          </a:prstGeom>
        </p:spPr>
      </p:pic>
      <p:sp>
        <p:nvSpPr>
          <p:cNvPr id="8" name="Text 4"/>
          <p:cNvSpPr/>
          <p:nvPr/>
        </p:nvSpPr>
        <p:spPr>
          <a:xfrm>
            <a:off x="3416424" y="5943749"/>
            <a:ext cx="1782239"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ADO work items</a:t>
            </a:r>
            <a:endParaRPr lang="en-US" sz="18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14244" y="5296049"/>
            <a:ext cx="533400" cy="533400"/>
          </a:xfrm>
          <a:prstGeom prst="rect">
            <a:avLst/>
          </a:prstGeom>
        </p:spPr>
      </p:pic>
      <p:sp>
        <p:nvSpPr>
          <p:cNvPr id="10" name="Text 5"/>
          <p:cNvSpPr/>
          <p:nvPr/>
        </p:nvSpPr>
        <p:spPr>
          <a:xfrm>
            <a:off x="5703391" y="5981849"/>
            <a:ext cx="1710697"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GitHub Projects</a:t>
            </a:r>
            <a:endParaRPr lang="en-US" sz="1800" dirty="0"/>
          </a:p>
        </p:txBody>
      </p:sp>
      <p:sp>
        <p:nvSpPr>
          <p:cNvPr id="11" name="Text 6"/>
          <p:cNvSpPr/>
          <p:nvPr/>
        </p:nvSpPr>
        <p:spPr>
          <a:xfrm>
            <a:off x="7925321" y="5981849"/>
            <a:ext cx="2594573"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Any storage with an API</a:t>
            </a:r>
            <a:endParaRPr lang="en-US" sz="1800" dirty="0"/>
          </a:p>
        </p:txBody>
      </p:sp>
      <p:sp>
        <p:nvSpPr>
          <p:cNvPr id="12" name="Text 7"/>
          <p:cNvSpPr/>
          <p:nvPr/>
        </p:nvSpPr>
        <p:spPr>
          <a:xfrm>
            <a:off x="1047750" y="6991499"/>
            <a:ext cx="16187738" cy="763488"/>
          </a:xfrm>
          <a:prstGeom prst="rect">
            <a:avLst/>
          </a:prstGeom>
          <a:noFill/>
          <a:ln/>
        </p:spPr>
        <p:txBody>
          <a:bodyPr wrap="square" lIns="25400" tIns="25400" rIns="25400" bIns="25400" rtlCol="0" anchor="t">
            <a:normAutofit/>
          </a:bodyPr>
          <a:lstStyle/>
          <a:p>
            <a:pPr algn="l" indent="0" marL="0">
              <a:lnSpc>
                <a:spcPct val="97641"/>
              </a:lnSpc>
              <a:buNone/>
            </a:pPr>
            <a:r>
              <a:rPr lang="en-US" sz="2550" spc="-25" kern="0" dirty="0">
                <a:solidFill>
                  <a:srgbClr val="FFFFFF"/>
                </a:solidFill>
                <a:latin typeface="Arial" pitchFamily="34" charset="0"/>
                <a:ea typeface="Arial" pitchFamily="34" charset="-122"/>
                <a:cs typeface="Arial" pitchFamily="34" charset="-120"/>
              </a:rPr>
              <a:t>"The pattern is the same whether storage is a local file or a Jira API endpoint. No new island. No parallel system."</a:t>
            </a:r>
            <a:endParaRPr lang="en-US" sz="2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589833"/>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F5BB41"/>
                </a:solidFill>
                <a:latin typeface="Arial" pitchFamily="34" charset="0"/>
                <a:ea typeface="Arial" pitchFamily="34" charset="-122"/>
                <a:cs typeface="Arial" pitchFamily="34" charset="-120"/>
              </a:rPr>
              <a:t>LIVE DEMO · 02</a:t>
            </a:r>
            <a:endParaRPr lang="en-US" sz="1800" dirty="0"/>
          </a:p>
        </p:txBody>
      </p:sp>
      <p:sp>
        <p:nvSpPr>
          <p:cNvPr id="3" name="Text 1"/>
          <p:cNvSpPr/>
          <p:nvPr/>
        </p:nvSpPr>
        <p:spPr>
          <a:xfrm>
            <a:off x="1047750" y="3294683"/>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Transcript → Schema → Validation</a:t>
            </a:r>
            <a:endParaRPr lang="en-US" sz="4500" dirty="0"/>
          </a:p>
        </p:txBody>
      </p:sp>
      <p:sp>
        <p:nvSpPr>
          <p:cNvPr id="4" name="Text 2"/>
          <p:cNvSpPr/>
          <p:nvPr/>
        </p:nvSpPr>
        <p:spPr>
          <a:xfrm>
            <a:off x="1047750" y="4391918"/>
            <a:ext cx="1781175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4597D3"/>
                </a:solidFill>
                <a:latin typeface="Arial" pitchFamily="34" charset="0"/>
                <a:ea typeface="Arial" pitchFamily="34" charset="-122"/>
                <a:cs typeface="Arial" pitchFamily="34" charset="-120"/>
              </a:rPr>
              <a:t>1. </a:t>
            </a:r>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Feed a real meeting transcript into an LLM with a schema definition</a:t>
            </a:r>
            <a:endParaRPr lang="en-US" sz="1950" dirty="0"/>
          </a:p>
        </p:txBody>
      </p:sp>
      <p:sp>
        <p:nvSpPr>
          <p:cNvPr id="5" name="Text 3"/>
          <p:cNvSpPr/>
          <p:nvPr/>
        </p:nvSpPr>
        <p:spPr>
          <a:xfrm>
            <a:off x="1047750" y="4953893"/>
            <a:ext cx="1781175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4597D3"/>
                </a:solidFill>
                <a:latin typeface="Arial" pitchFamily="34" charset="0"/>
                <a:ea typeface="Arial" pitchFamily="34" charset="-122"/>
                <a:cs typeface="Arial" pitchFamily="34" charset="-120"/>
              </a:rPr>
              <a:t>2. </a:t>
            </a:r>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Produce structured YAML output</a:t>
            </a:r>
            <a:endParaRPr lang="en-US" sz="1950" dirty="0"/>
          </a:p>
        </p:txBody>
      </p:sp>
      <p:sp>
        <p:nvSpPr>
          <p:cNvPr id="6" name="Text 4"/>
          <p:cNvSpPr/>
          <p:nvPr/>
        </p:nvSpPr>
        <p:spPr>
          <a:xfrm>
            <a:off x="1047750" y="5515868"/>
            <a:ext cx="1781175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4597D3"/>
                </a:solidFill>
                <a:latin typeface="Arial" pitchFamily="34" charset="0"/>
                <a:ea typeface="Arial" pitchFamily="34" charset="-122"/>
                <a:cs typeface="Arial" pitchFamily="34" charset="-120"/>
              </a:rPr>
              <a:t>3. </a:t>
            </a:r>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Run a deterministic validation script</a:t>
            </a:r>
            <a:endParaRPr lang="en-US" sz="1950" dirty="0"/>
          </a:p>
        </p:txBody>
      </p:sp>
      <p:sp>
        <p:nvSpPr>
          <p:cNvPr id="7" name="Text 5"/>
          <p:cNvSpPr/>
          <p:nvPr/>
        </p:nvSpPr>
        <p:spPr>
          <a:xfrm>
            <a:off x="1047750" y="6077843"/>
            <a:ext cx="1781175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4597D3"/>
                </a:solidFill>
                <a:latin typeface="Arial" pitchFamily="34" charset="0"/>
                <a:ea typeface="Arial" pitchFamily="34" charset="-122"/>
                <a:cs typeface="Arial" pitchFamily="34" charset="-120"/>
              </a:rPr>
              <a:t>4. </a:t>
            </a:r>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Watch it catch missing required fields and inconsistent data</a:t>
            </a:r>
            <a:endParaRPr lang="en-US" sz="1950" dirty="0"/>
          </a:p>
        </p:txBody>
      </p:sp>
      <p:sp>
        <p:nvSpPr>
          <p:cNvPr id="8" name="Text 6"/>
          <p:cNvSpPr/>
          <p:nvPr/>
        </p:nvSpPr>
        <p:spPr>
          <a:xfrm>
            <a:off x="1047750" y="6639818"/>
            <a:ext cx="17811750"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b="1" dirty="0">
                <a:solidFill>
                  <a:srgbClr val="4597D3"/>
                </a:solidFill>
                <a:latin typeface="Arial" pitchFamily="34" charset="0"/>
                <a:ea typeface="Arial" pitchFamily="34" charset="-122"/>
                <a:cs typeface="Arial" pitchFamily="34" charset="-120"/>
              </a:rPr>
              <a:t>5. </a:t>
            </a:r>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Query the same structured data from a Jira-equivalent API endpoint</a:t>
            </a:r>
            <a:endParaRPr lang="en-US" sz="1950" dirty="0"/>
          </a:p>
        </p:txBody>
      </p:sp>
      <p:sp>
        <p:nvSpPr>
          <p:cNvPr id="9" name="Text 7"/>
          <p:cNvSpPr/>
          <p:nvPr/>
        </p:nvSpPr>
        <p:spPr>
          <a:xfrm>
            <a:off x="1047750" y="7506593"/>
            <a:ext cx="16764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Watch the validation script catch things that would have sailed past in a markdown doc.</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41F"/>
        </a:solidFill>
      </p:bgPr>
    </p:bg>
    <p:spTree>
      <p:nvGrpSpPr>
        <p:cNvPr id="1" name=""/>
        <p:cNvGrpSpPr/>
        <p:nvPr/>
      </p:nvGrpSpPr>
      <p:grpSpPr>
        <a:xfrm>
          <a:off x="0" y="0"/>
          <a:ext cx="0" cy="0"/>
          <a:chOff x="0" y="0"/>
          <a:chExt cx="0" cy="0"/>
        </a:xfrm>
      </p:grpSpPr>
      <p:sp>
        <p:nvSpPr>
          <p:cNvPr id="2" name="Text 0"/>
          <p:cNvSpPr/>
          <p:nvPr/>
        </p:nvSpPr>
        <p:spPr>
          <a:xfrm>
            <a:off x="1047750" y="4080867"/>
            <a:ext cx="1701693"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SECTION 03</a:t>
            </a:r>
            <a:endParaRPr lang="en-US" sz="1800" dirty="0"/>
          </a:p>
        </p:txBody>
      </p:sp>
      <p:sp>
        <p:nvSpPr>
          <p:cNvPr id="3" name="Text 1"/>
          <p:cNvSpPr/>
          <p:nvPr/>
        </p:nvSpPr>
        <p:spPr>
          <a:xfrm>
            <a:off x="1047750" y="4633317"/>
            <a:ext cx="12785251" cy="848841"/>
          </a:xfrm>
          <a:prstGeom prst="rect">
            <a:avLst/>
          </a:prstGeom>
          <a:noFill/>
          <a:ln/>
        </p:spPr>
        <p:txBody>
          <a:bodyPr wrap="square" lIns="25400" tIns="25400" rIns="25400" bIns="25400" rtlCol="0" anchor="t">
            <a:normAutofit/>
          </a:bodyPr>
          <a:lstStyle/>
          <a:p>
            <a:pPr algn="l" indent="0" marL="0">
              <a:lnSpc>
                <a:spcPct val="97280"/>
              </a:lnSpc>
              <a:buNone/>
            </a:pPr>
            <a:r>
              <a:rPr lang="en-US" sz="5700" b="1" spc="-57" kern="0" dirty="0">
                <a:solidFill>
                  <a:srgbClr val="FFFFFF"/>
                </a:solidFill>
                <a:latin typeface="Arial" pitchFamily="34" charset="0"/>
                <a:ea typeface="Arial" pitchFamily="34" charset="-122"/>
                <a:cs typeface="Arial" pitchFamily="34" charset="-120"/>
              </a:rPr>
              <a:t>Evaluation-Driven Development</a:t>
            </a:r>
            <a:endParaRPr lang="en-US" sz="5700" dirty="0"/>
          </a:p>
        </p:txBody>
      </p:sp>
      <p:sp>
        <p:nvSpPr>
          <p:cNvPr id="4" name="Text 2"/>
          <p:cNvSpPr/>
          <p:nvPr/>
        </p:nvSpPr>
        <p:spPr>
          <a:xfrm>
            <a:off x="1047750" y="5863158"/>
            <a:ext cx="6593212"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4597D3"/>
                </a:solidFill>
                <a:latin typeface="Arial" pitchFamily="34" charset="0"/>
                <a:ea typeface="Arial" pitchFamily="34" charset="-122"/>
                <a:cs typeface="Arial" pitchFamily="34" charset="-120"/>
              </a:rPr>
              <a:t>Your prompts are production software. Treat them that way.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077766"/>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EVALUATION-DRIVEN DEVELOPMENT</a:t>
            </a:r>
            <a:endParaRPr lang="en-US" sz="1800" dirty="0"/>
          </a:p>
        </p:txBody>
      </p:sp>
      <p:sp>
        <p:nvSpPr>
          <p:cNvPr id="3" name="Text 1"/>
          <p:cNvSpPr/>
          <p:nvPr/>
        </p:nvSpPr>
        <p:spPr>
          <a:xfrm>
            <a:off x="1047750" y="3782616"/>
            <a:ext cx="17287875"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Your Prompt System Is Production Software</a:t>
            </a:r>
            <a:endParaRPr lang="en-US" sz="4500" dirty="0"/>
          </a:p>
        </p:txBody>
      </p:sp>
      <p:sp>
        <p:nvSpPr>
          <p:cNvPr id="4" name="Text 2"/>
          <p:cNvSpPr/>
          <p:nvPr/>
        </p:nvSpPr>
        <p:spPr>
          <a:xfrm>
            <a:off x="1047750" y="4917951"/>
            <a:ext cx="15206662"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You now have Living Context feeding agents that generate code. The prompts, schemas, and validation scripts that make this work are themselves a system — a living piece of software that supports your SDLC.</a:t>
            </a:r>
            <a:endParaRPr lang="en-US" sz="2250" dirty="0"/>
          </a:p>
        </p:txBody>
      </p:sp>
      <p:sp>
        <p:nvSpPr>
          <p:cNvPr id="5" name="Text 3"/>
          <p:cNvSpPr/>
          <p:nvPr/>
        </p:nvSpPr>
        <p:spPr>
          <a:xfrm>
            <a:off x="1047750" y="6080001"/>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They need: version control, testing, CI, regression protection.</a:t>
            </a:r>
            <a:endParaRPr lang="en-US" sz="1800" dirty="0"/>
          </a:p>
        </p:txBody>
      </p:sp>
      <p:sp>
        <p:nvSpPr>
          <p:cNvPr id="6" name="Text 4"/>
          <p:cNvSpPr/>
          <p:nvPr/>
        </p:nvSpPr>
        <p:spPr>
          <a:xfrm>
            <a:off x="1047750" y="6956301"/>
            <a:ext cx="17811750" cy="443433"/>
          </a:xfrm>
          <a:prstGeom prst="rect">
            <a:avLst/>
          </a:prstGeom>
          <a:noFill/>
          <a:ln/>
        </p:spPr>
        <p:txBody>
          <a:bodyPr wrap="square" lIns="25400" tIns="25400" rIns="25400" bIns="25400" rtlCol="0" anchor="t">
            <a:normAutofit/>
          </a:bodyPr>
          <a:lstStyle/>
          <a:p>
            <a:pPr algn="l" indent="0" marL="0">
              <a:lnSpc>
                <a:spcPct val="97839"/>
              </a:lnSpc>
              <a:buNone/>
            </a:pPr>
            <a:r>
              <a:rPr lang="en-US" sz="2850" spc="-29" kern="0" dirty="0">
                <a:solidFill>
                  <a:srgbClr val="F5BB41"/>
                </a:solidFill>
                <a:latin typeface="Arial" pitchFamily="34" charset="0"/>
                <a:ea typeface="Arial" pitchFamily="34" charset="-122"/>
                <a:cs typeface="Arial" pitchFamily="34" charset="-120"/>
              </a:rPr>
              <a:t>"Would you ship an API with no tests? Then why are you shipping prompts with no evals?"</a:t>
            </a:r>
            <a:endParaRPr lang="en-US" sz="2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632695"/>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EVALUATION-DRIVEN DEVELOPMENT</a:t>
            </a:r>
            <a:endParaRPr lang="en-US" sz="1800" dirty="0"/>
          </a:p>
        </p:txBody>
      </p:sp>
      <p:sp>
        <p:nvSpPr>
          <p:cNvPr id="3" name="Text 1"/>
          <p:cNvSpPr/>
          <p:nvPr/>
        </p:nvSpPr>
        <p:spPr>
          <a:xfrm>
            <a:off x="1047750" y="3337545"/>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Write the Eval Before the Generation</a:t>
            </a:r>
            <a:endParaRPr lang="en-US" sz="4500" dirty="0"/>
          </a:p>
        </p:txBody>
      </p:sp>
      <p:sp>
        <p:nvSpPr>
          <p:cNvPr id="4" name="Shape 2"/>
          <p:cNvSpPr/>
          <p:nvPr/>
        </p:nvSpPr>
        <p:spPr>
          <a:xfrm>
            <a:off x="9134475" y="4549080"/>
            <a:ext cx="9525" cy="2381250"/>
          </a:xfrm>
          <a:prstGeom prst="rect">
            <a:avLst/>
          </a:prstGeom>
          <a:solidFill>
            <a:srgbClr val="FFFFFF">
              <a:alpha val="14000"/>
            </a:srgbClr>
          </a:solidFill>
          <a:ln/>
        </p:spPr>
      </p:sp>
      <p:sp>
        <p:nvSpPr>
          <p:cNvPr id="5" name="Text 3"/>
          <p:cNvSpPr/>
          <p:nvPr/>
        </p:nvSpPr>
        <p:spPr>
          <a:xfrm>
            <a:off x="1047750" y="4549080"/>
            <a:ext cx="8266748"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TDD</a:t>
            </a:r>
            <a:endParaRPr lang="en-US" sz="1800" dirty="0"/>
          </a:p>
        </p:txBody>
      </p:sp>
      <p:sp>
        <p:nvSpPr>
          <p:cNvPr id="6" name="Text 4"/>
          <p:cNvSpPr/>
          <p:nvPr/>
        </p:nvSpPr>
        <p:spPr>
          <a:xfrm>
            <a:off x="1047750" y="5044380"/>
            <a:ext cx="8266748"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Write the test</a:t>
            </a:r>
            <a:endParaRPr lang="en-US" sz="1950" dirty="0"/>
          </a:p>
        </p:txBody>
      </p:sp>
      <p:sp>
        <p:nvSpPr>
          <p:cNvPr id="7" name="Text 5"/>
          <p:cNvSpPr/>
          <p:nvPr/>
        </p:nvSpPr>
        <p:spPr>
          <a:xfrm>
            <a:off x="1047750" y="5549205"/>
            <a:ext cx="8266748"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Write the code</a:t>
            </a:r>
            <a:endParaRPr lang="en-US" sz="1950" dirty="0"/>
          </a:p>
        </p:txBody>
      </p:sp>
      <p:sp>
        <p:nvSpPr>
          <p:cNvPr id="8" name="Text 6"/>
          <p:cNvSpPr/>
          <p:nvPr/>
        </p:nvSpPr>
        <p:spPr>
          <a:xfrm>
            <a:off x="1047750" y="6054030"/>
            <a:ext cx="8266748"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Run the test</a:t>
            </a:r>
            <a:endParaRPr lang="en-US" sz="1950" dirty="0"/>
          </a:p>
        </p:txBody>
      </p:sp>
      <p:sp>
        <p:nvSpPr>
          <p:cNvPr id="9" name="Text 7"/>
          <p:cNvSpPr/>
          <p:nvPr/>
        </p:nvSpPr>
        <p:spPr>
          <a:xfrm>
            <a:off x="1047750" y="6558855"/>
            <a:ext cx="8266748"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Iterate</a:t>
            </a:r>
            <a:endParaRPr lang="en-US" sz="1950" dirty="0"/>
          </a:p>
        </p:txBody>
      </p:sp>
      <p:sp>
        <p:nvSpPr>
          <p:cNvPr id="10" name="Text 8"/>
          <p:cNvSpPr/>
          <p:nvPr/>
        </p:nvSpPr>
        <p:spPr>
          <a:xfrm>
            <a:off x="9715500" y="4549080"/>
            <a:ext cx="8277225"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5BC2A7"/>
                </a:solidFill>
                <a:latin typeface="Arial" pitchFamily="34" charset="0"/>
                <a:ea typeface="Arial" pitchFamily="34" charset="-122"/>
                <a:cs typeface="Arial" pitchFamily="34" charset="-120"/>
              </a:rPr>
              <a:t>EDD</a:t>
            </a:r>
            <a:endParaRPr lang="en-US" sz="1800" dirty="0"/>
          </a:p>
        </p:txBody>
      </p:sp>
      <p:sp>
        <p:nvSpPr>
          <p:cNvPr id="11" name="Text 9"/>
          <p:cNvSpPr/>
          <p:nvPr/>
        </p:nvSpPr>
        <p:spPr>
          <a:xfrm>
            <a:off x="9715500" y="5044380"/>
            <a:ext cx="82772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solidFill>
                <a:latin typeface="Arial" pitchFamily="34" charset="0"/>
                <a:ea typeface="Arial" pitchFamily="34" charset="-122"/>
                <a:cs typeface="Arial" pitchFamily="34" charset="-120"/>
              </a:rPr>
              <a:t>Write the eval</a:t>
            </a:r>
            <a:endParaRPr lang="en-US" sz="1950" dirty="0"/>
          </a:p>
        </p:txBody>
      </p:sp>
      <p:sp>
        <p:nvSpPr>
          <p:cNvPr id="12" name="Text 10"/>
          <p:cNvSpPr/>
          <p:nvPr/>
        </p:nvSpPr>
        <p:spPr>
          <a:xfrm>
            <a:off x="9715500" y="5549205"/>
            <a:ext cx="82772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solidFill>
                <a:latin typeface="Arial" pitchFamily="34" charset="0"/>
                <a:ea typeface="Arial" pitchFamily="34" charset="-122"/>
                <a:cs typeface="Arial" pitchFamily="34" charset="-120"/>
              </a:rPr>
              <a:t>Generate the code</a:t>
            </a:r>
            <a:endParaRPr lang="en-US" sz="1950" dirty="0"/>
          </a:p>
        </p:txBody>
      </p:sp>
      <p:sp>
        <p:nvSpPr>
          <p:cNvPr id="13" name="Text 11"/>
          <p:cNvSpPr/>
          <p:nvPr/>
        </p:nvSpPr>
        <p:spPr>
          <a:xfrm>
            <a:off x="9715500" y="6054030"/>
            <a:ext cx="82772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solidFill>
                <a:latin typeface="Arial" pitchFamily="34" charset="0"/>
                <a:ea typeface="Arial" pitchFamily="34" charset="-122"/>
                <a:cs typeface="Arial" pitchFamily="34" charset="-120"/>
              </a:rPr>
              <a:t>Run the eval</a:t>
            </a:r>
            <a:endParaRPr lang="en-US" sz="1950" dirty="0"/>
          </a:p>
        </p:txBody>
      </p:sp>
      <p:sp>
        <p:nvSpPr>
          <p:cNvPr id="14" name="Text 12"/>
          <p:cNvSpPr/>
          <p:nvPr/>
        </p:nvSpPr>
        <p:spPr>
          <a:xfrm>
            <a:off x="9715500" y="6558855"/>
            <a:ext cx="82772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FFFFFF"/>
                </a:solidFill>
                <a:latin typeface="Arial" pitchFamily="34" charset="0"/>
                <a:ea typeface="Arial" pitchFamily="34" charset="-122"/>
                <a:cs typeface="Arial" pitchFamily="34" charset="-120"/>
              </a:rPr>
              <a:t>Iterate</a:t>
            </a:r>
            <a:endParaRPr lang="en-US" sz="1950" dirty="0"/>
          </a:p>
        </p:txBody>
      </p:sp>
      <p:sp>
        <p:nvSpPr>
          <p:cNvPr id="15" name="Text 13"/>
          <p:cNvSpPr/>
          <p:nvPr/>
        </p:nvSpPr>
        <p:spPr>
          <a:xfrm>
            <a:off x="1047750" y="7463730"/>
            <a:ext cx="1728787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Your structured spec from Section 2 becomes your eval suite. Each constraint, each requirement, each validation rule is a test case.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156570"/>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EVALUATION-DRIVEN DEVELOPMENT</a:t>
            </a:r>
            <a:endParaRPr lang="en-US" sz="1800" dirty="0"/>
          </a:p>
        </p:txBody>
      </p:sp>
      <p:sp>
        <p:nvSpPr>
          <p:cNvPr id="3" name="Text 1"/>
          <p:cNvSpPr/>
          <p:nvPr/>
        </p:nvSpPr>
        <p:spPr>
          <a:xfrm>
            <a:off x="1047750" y="3861420"/>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Generate → Eval → Measure → Iterate</a:t>
            </a:r>
            <a:endParaRPr lang="en-US" sz="45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86300" y="5187255"/>
            <a:ext cx="457200" cy="457200"/>
          </a:xfrm>
          <a:prstGeom prst="rect">
            <a:avLst/>
          </a:prstGeom>
        </p:spPr>
      </p:pic>
      <p:sp>
        <p:nvSpPr>
          <p:cNvPr id="5" name="Text 2"/>
          <p:cNvSpPr/>
          <p:nvPr/>
        </p:nvSpPr>
        <p:spPr>
          <a:xfrm>
            <a:off x="3552825" y="5834955"/>
            <a:ext cx="2724150"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Generate</a:t>
            </a:r>
            <a:endParaRPr lang="en-US" sz="1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53150" y="5511105"/>
            <a:ext cx="342900" cy="342900"/>
          </a:xfrm>
          <a:prstGeom prst="rect">
            <a:avLst/>
          </a:prstGeom>
        </p:spPr>
      </p:pic>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05700" y="5187255"/>
            <a:ext cx="457200" cy="457200"/>
          </a:xfrm>
          <a:prstGeom prst="rect">
            <a:avLst/>
          </a:prstGeom>
        </p:spPr>
      </p:pic>
      <p:sp>
        <p:nvSpPr>
          <p:cNvPr id="8" name="Text 3"/>
          <p:cNvSpPr/>
          <p:nvPr/>
        </p:nvSpPr>
        <p:spPr>
          <a:xfrm>
            <a:off x="6372225" y="5834955"/>
            <a:ext cx="2724150"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Eval</a:t>
            </a:r>
            <a:endParaRPr lang="en-US" sz="180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72550" y="5511105"/>
            <a:ext cx="342900" cy="342900"/>
          </a:xfrm>
          <a:prstGeom prst="rect">
            <a:avLst/>
          </a:prstGeom>
        </p:spPr>
      </p:pic>
      <p:pic>
        <p:nvPicPr>
          <p:cNvPr id="1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25100" y="5187255"/>
            <a:ext cx="457200" cy="457200"/>
          </a:xfrm>
          <a:prstGeom prst="rect">
            <a:avLst/>
          </a:prstGeom>
        </p:spPr>
      </p:pic>
      <p:sp>
        <p:nvSpPr>
          <p:cNvPr id="11" name="Text 4"/>
          <p:cNvSpPr/>
          <p:nvPr/>
        </p:nvSpPr>
        <p:spPr>
          <a:xfrm>
            <a:off x="9191625" y="5834955"/>
            <a:ext cx="2724150"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Measure</a:t>
            </a:r>
            <a:endParaRPr lang="en-US" sz="1800" dirty="0"/>
          </a:p>
        </p:txBody>
      </p:sp>
      <p:pic>
        <p:nvPicPr>
          <p:cNvPr id="1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791950" y="5511105"/>
            <a:ext cx="342900" cy="342900"/>
          </a:xfrm>
          <a:prstGeom prst="rect">
            <a:avLst/>
          </a:prstGeom>
        </p:spPr>
      </p:pic>
      <p:pic>
        <p:nvPicPr>
          <p:cNvPr id="1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144500" y="5187255"/>
            <a:ext cx="457200" cy="457200"/>
          </a:xfrm>
          <a:prstGeom prst="rect">
            <a:avLst/>
          </a:prstGeom>
        </p:spPr>
      </p:pic>
      <p:sp>
        <p:nvSpPr>
          <p:cNvPr id="14" name="Text 5"/>
          <p:cNvSpPr/>
          <p:nvPr/>
        </p:nvSpPr>
        <p:spPr>
          <a:xfrm>
            <a:off x="12011025" y="5834955"/>
            <a:ext cx="2724150"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Iterate</a:t>
            </a:r>
            <a:endParaRPr lang="en-US" sz="1800" dirty="0"/>
          </a:p>
        </p:txBody>
      </p:sp>
      <p:sp>
        <p:nvSpPr>
          <p:cNvPr id="15" name="Text 6"/>
          <p:cNvSpPr/>
          <p:nvPr/>
        </p:nvSpPr>
        <p:spPr>
          <a:xfrm>
            <a:off x="1777175" y="6939855"/>
            <a:ext cx="14733575"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FFFFFF"/>
                </a:solidFill>
                <a:latin typeface="Arial" pitchFamily="34" charset="0"/>
                <a:ea typeface="Arial" pitchFamily="34" charset="-122"/>
                <a:cs typeface="Arial" pitchFamily="34" charset="-120"/>
              </a:rPr>
              <a:t>Regression protection: when you change a prompt, swap a model, or update a schema, the eval suite tells you if you broke something.</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074715"/>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EVALUATION-DRIVEN DEVELOPMENT</a:t>
            </a:r>
            <a:endParaRPr lang="en-US" sz="1800" dirty="0"/>
          </a:p>
        </p:txBody>
      </p:sp>
      <p:sp>
        <p:nvSpPr>
          <p:cNvPr id="3" name="Text 1"/>
          <p:cNvSpPr/>
          <p:nvPr/>
        </p:nvSpPr>
        <p:spPr>
          <a:xfrm>
            <a:off x="1047750" y="3779565"/>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The Through-Line Completes</a:t>
            </a:r>
            <a:endParaRPr lang="en-US" sz="4500" dirty="0"/>
          </a:p>
        </p:txBody>
      </p:sp>
      <p:sp>
        <p:nvSpPr>
          <p:cNvPr id="4" name="Text 2"/>
          <p:cNvSpPr/>
          <p:nvPr/>
        </p:nvSpPr>
        <p:spPr>
          <a:xfrm>
            <a:off x="790575" y="5029200"/>
            <a:ext cx="5657850"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SECTION 1</a:t>
            </a:r>
            <a:endParaRPr lang="en-US" sz="1800" dirty="0"/>
          </a:p>
        </p:txBody>
      </p:sp>
      <p:sp>
        <p:nvSpPr>
          <p:cNvPr id="5" name="Text 3"/>
          <p:cNvSpPr/>
          <p:nvPr/>
        </p:nvSpPr>
        <p:spPr>
          <a:xfrm>
            <a:off x="790575" y="5467350"/>
            <a:ext cx="5657850" cy="315441"/>
          </a:xfrm>
          <a:prstGeom prst="rect">
            <a:avLst/>
          </a:prstGeom>
          <a:noFill/>
          <a:ln/>
        </p:spPr>
        <p:txBody>
          <a:bodyPr wrap="square" lIns="25400" tIns="25400" rIns="25400" bIns="25400" rtlCol="0" anchor="t">
            <a:normAutofit/>
          </a:bodyPr>
          <a:lstStyle/>
          <a:p>
            <a:pPr algn="ctr" indent="0" marL="0">
              <a:lnSpc>
                <a:spcPct val="97067"/>
              </a:lnSpc>
              <a:buNone/>
            </a:pPr>
            <a:r>
              <a:rPr lang="en-US" sz="1950" spc="-19" kern="0" dirty="0">
                <a:solidFill>
                  <a:srgbClr val="6F8393"/>
                </a:solidFill>
                <a:latin typeface="Arial" pitchFamily="34" charset="0"/>
                <a:ea typeface="Arial" pitchFamily="34" charset="-122"/>
                <a:cs typeface="Arial" pitchFamily="34" charset="-120"/>
              </a:rPr>
              <a:t>Can't live in prose</a:t>
            </a:r>
            <a:endParaRPr lang="en-US" sz="1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91250" y="5196408"/>
            <a:ext cx="381000" cy="381000"/>
          </a:xfrm>
          <a:prstGeom prst="rect">
            <a:avLst/>
          </a:prstGeom>
        </p:spPr>
      </p:pic>
      <p:sp>
        <p:nvSpPr>
          <p:cNvPr id="7" name="Text 4"/>
          <p:cNvSpPr/>
          <p:nvPr/>
        </p:nvSpPr>
        <p:spPr>
          <a:xfrm>
            <a:off x="6315075" y="5029200"/>
            <a:ext cx="5657850"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SECTION 2</a:t>
            </a:r>
            <a:endParaRPr lang="en-US" sz="1800" dirty="0"/>
          </a:p>
        </p:txBody>
      </p:sp>
      <p:sp>
        <p:nvSpPr>
          <p:cNvPr id="8" name="Text 5"/>
          <p:cNvSpPr/>
          <p:nvPr/>
        </p:nvSpPr>
        <p:spPr>
          <a:xfrm>
            <a:off x="6315075" y="5467350"/>
            <a:ext cx="5657850" cy="315441"/>
          </a:xfrm>
          <a:prstGeom prst="rect">
            <a:avLst/>
          </a:prstGeom>
          <a:noFill/>
          <a:ln/>
        </p:spPr>
        <p:txBody>
          <a:bodyPr wrap="square" lIns="25400" tIns="25400" rIns="25400" bIns="25400" rtlCol="0" anchor="t">
            <a:normAutofit/>
          </a:bodyPr>
          <a:lstStyle/>
          <a:p>
            <a:pPr algn="ctr" indent="0" marL="0">
              <a:lnSpc>
                <a:spcPct val="97067"/>
              </a:lnSpc>
              <a:buNone/>
            </a:pPr>
            <a:r>
              <a:rPr lang="en-US" sz="1950" spc="-19" kern="0" dirty="0">
                <a:solidFill>
                  <a:srgbClr val="FFFFFF"/>
                </a:solidFill>
                <a:latin typeface="Arial" pitchFamily="34" charset="0"/>
                <a:ea typeface="Arial" pitchFamily="34" charset="-122"/>
                <a:cs typeface="Arial" pitchFamily="34" charset="-120"/>
              </a:rPr>
              <a:t>Enforced by hooks</a:t>
            </a:r>
            <a:endParaRPr lang="en-US" sz="1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15750" y="5196408"/>
            <a:ext cx="381000" cy="381000"/>
          </a:xfrm>
          <a:prstGeom prst="rect">
            <a:avLst/>
          </a:prstGeom>
        </p:spPr>
      </p:pic>
      <p:sp>
        <p:nvSpPr>
          <p:cNvPr id="10" name="Text 6"/>
          <p:cNvSpPr/>
          <p:nvPr/>
        </p:nvSpPr>
        <p:spPr>
          <a:xfrm>
            <a:off x="11839575" y="5029200"/>
            <a:ext cx="5657850"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5BC2A7"/>
                </a:solidFill>
                <a:latin typeface="Arial" pitchFamily="34" charset="0"/>
                <a:ea typeface="Arial" pitchFamily="34" charset="-122"/>
                <a:cs typeface="Arial" pitchFamily="34" charset="-120"/>
              </a:rPr>
              <a:t>SECTION 3</a:t>
            </a:r>
            <a:endParaRPr lang="en-US" sz="1800" dirty="0"/>
          </a:p>
        </p:txBody>
      </p:sp>
      <p:sp>
        <p:nvSpPr>
          <p:cNvPr id="11" name="Text 7"/>
          <p:cNvSpPr/>
          <p:nvPr/>
        </p:nvSpPr>
        <p:spPr>
          <a:xfrm>
            <a:off x="11839575" y="5467350"/>
            <a:ext cx="5657850" cy="315441"/>
          </a:xfrm>
          <a:prstGeom prst="rect">
            <a:avLst/>
          </a:prstGeom>
          <a:noFill/>
          <a:ln/>
        </p:spPr>
        <p:txBody>
          <a:bodyPr wrap="square" lIns="25400" tIns="25400" rIns="25400" bIns="25400" rtlCol="0" anchor="t">
            <a:normAutofit/>
          </a:bodyPr>
          <a:lstStyle/>
          <a:p>
            <a:pPr algn="ctr" indent="0" marL="0">
              <a:lnSpc>
                <a:spcPct val="97067"/>
              </a:lnSpc>
              <a:buNone/>
            </a:pPr>
            <a:r>
              <a:rPr lang="en-US" sz="1950" spc="-19" kern="0" dirty="0">
                <a:solidFill>
                  <a:srgbClr val="FFFFFF"/>
                </a:solidFill>
                <a:latin typeface="Arial" pitchFamily="34" charset="0"/>
                <a:ea typeface="Arial" pitchFamily="34" charset="-122"/>
                <a:cs typeface="Arial" pitchFamily="34" charset="-120"/>
              </a:rPr>
              <a:t>Validated by evals</a:t>
            </a:r>
            <a:endParaRPr lang="en-US" sz="1950" dirty="0"/>
          </a:p>
        </p:txBody>
      </p:sp>
      <p:sp>
        <p:nvSpPr>
          <p:cNvPr id="12" name="Text 8"/>
          <p:cNvSpPr/>
          <p:nvPr/>
        </p:nvSpPr>
        <p:spPr>
          <a:xfrm>
            <a:off x="1047750" y="6316191"/>
            <a:ext cx="1728787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The eval doesn't just check "did the AI generate code?" It checks "did the AI generate code that follows our standards?"</a:t>
            </a:r>
            <a:endParaRPr lang="en-US" sz="1800" dirty="0"/>
          </a:p>
        </p:txBody>
      </p:sp>
      <p:sp>
        <p:nvSpPr>
          <p:cNvPr id="13" name="Text 9"/>
          <p:cNvSpPr/>
          <p:nvPr/>
        </p:nvSpPr>
        <p:spPr>
          <a:xfrm>
            <a:off x="1047750" y="7001991"/>
            <a:ext cx="17811750" cy="400794"/>
          </a:xfrm>
          <a:prstGeom prst="rect">
            <a:avLst/>
          </a:prstGeom>
          <a:noFill/>
          <a:ln/>
        </p:spPr>
        <p:txBody>
          <a:bodyPr wrap="square" lIns="25400" tIns="25400" rIns="25400" bIns="25400" rtlCol="0" anchor="t">
            <a:normAutofit/>
          </a:bodyPr>
          <a:lstStyle/>
          <a:p>
            <a:pPr algn="l" indent="0" marL="0">
              <a:lnSpc>
                <a:spcPct val="97641"/>
              </a:lnSpc>
              <a:buNone/>
            </a:pPr>
            <a:r>
              <a:rPr lang="en-US" sz="2550" spc="-25" kern="0" dirty="0">
                <a:solidFill>
                  <a:srgbClr val="4597D3"/>
                </a:solidFill>
                <a:latin typeface="Arial" pitchFamily="34" charset="0"/>
                <a:ea typeface="Arial" pitchFamily="34" charset="-122"/>
                <a:cs typeface="Arial" pitchFamily="34" charset="-120"/>
              </a:rPr>
              <a:t>"Your opinions: from hopes → to rules → to evidence."</a:t>
            </a:r>
            <a:endParaRPr lang="en-US" sz="2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462808"/>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EVALUATION-DRIVEN DEVELOPMENT</a:t>
            </a:r>
            <a:endParaRPr lang="en-US" sz="1800" dirty="0"/>
          </a:p>
        </p:txBody>
      </p:sp>
      <p:sp>
        <p:nvSpPr>
          <p:cNvPr id="3" name="Text 1"/>
          <p:cNvSpPr/>
          <p:nvPr/>
        </p:nvSpPr>
        <p:spPr>
          <a:xfrm>
            <a:off x="1047750" y="3167658"/>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Three Layers of Trust</a:t>
            </a:r>
            <a:endParaRPr lang="en-US" sz="4500" dirty="0"/>
          </a:p>
        </p:txBody>
      </p:sp>
      <p:sp>
        <p:nvSpPr>
          <p:cNvPr id="4" name="Shape 2"/>
          <p:cNvSpPr/>
          <p:nvPr/>
        </p:nvSpPr>
        <p:spPr>
          <a:xfrm>
            <a:off x="1047750" y="4998318"/>
            <a:ext cx="16192500" cy="9525"/>
          </a:xfrm>
          <a:prstGeom prst="rect">
            <a:avLst/>
          </a:prstGeom>
          <a:solidFill>
            <a:srgbClr val="FFFFFF">
              <a:alpha val="8000"/>
            </a:srgbClr>
          </a:solidFill>
          <a:ln/>
        </p:spPr>
      </p:sp>
      <p:sp>
        <p:nvSpPr>
          <p:cNvPr id="5" name="Text 3"/>
          <p:cNvSpPr/>
          <p:nvPr/>
        </p:nvSpPr>
        <p:spPr>
          <a:xfrm>
            <a:off x="1047750" y="4493493"/>
            <a:ext cx="4400550" cy="352425"/>
          </a:xfrm>
          <a:prstGeom prst="rect">
            <a:avLst/>
          </a:prstGeom>
          <a:noFill/>
          <a:ln/>
        </p:spPr>
        <p:txBody>
          <a:bodyPr wrap="square" lIns="25400" tIns="25400" rIns="25400" bIns="25400" rtlCol="0" anchor="t">
            <a:normAutofit/>
          </a:bodyPr>
          <a:lstStyle/>
          <a:p>
            <a:pPr algn="l" indent="0" marL="0">
              <a:lnSpc>
                <a:spcPct val="97067"/>
              </a:lnSpc>
              <a:buNone/>
            </a:pPr>
            <a:r>
              <a:rPr lang="en-US" sz="1950" b="1" spc="-19" kern="0" dirty="0">
                <a:solidFill>
                  <a:srgbClr val="4597D3"/>
                </a:solidFill>
                <a:latin typeface="Arial" pitchFamily="34" charset="0"/>
                <a:ea typeface="Arial" pitchFamily="34" charset="-122"/>
                <a:cs typeface="Arial" pitchFamily="34" charset="-120"/>
              </a:rPr>
              <a:t>Evaluations</a:t>
            </a:r>
            <a:endParaRPr lang="en-US" sz="1950" dirty="0"/>
          </a:p>
        </p:txBody>
      </p:sp>
      <p:sp>
        <p:nvSpPr>
          <p:cNvPr id="6" name="Text 4"/>
          <p:cNvSpPr/>
          <p:nvPr/>
        </p:nvSpPr>
        <p:spPr>
          <a:xfrm>
            <a:off x="5429250" y="4493493"/>
            <a:ext cx="628650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Measure semantic quality — retrospective</a:t>
            </a:r>
            <a:endParaRPr lang="en-US" sz="1650" dirty="0"/>
          </a:p>
        </p:txBody>
      </p:sp>
      <p:sp>
        <p:nvSpPr>
          <p:cNvPr id="7" name="Text 5"/>
          <p:cNvSpPr/>
          <p:nvPr/>
        </p:nvSpPr>
        <p:spPr>
          <a:xfrm>
            <a:off x="11525250" y="4493493"/>
            <a:ext cx="628650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FFFFF"/>
                </a:solidFill>
                <a:latin typeface="Arial" pitchFamily="34" charset="0"/>
                <a:ea typeface="Arial" pitchFamily="34" charset="-122"/>
                <a:cs typeface="Arial" pitchFamily="34" charset="-120"/>
              </a:rPr>
              <a:t>Your opinions as test cases</a:t>
            </a:r>
            <a:endParaRPr lang="en-US" sz="1650" dirty="0"/>
          </a:p>
        </p:txBody>
      </p:sp>
      <p:sp>
        <p:nvSpPr>
          <p:cNvPr id="8" name="Shape 6"/>
          <p:cNvSpPr/>
          <p:nvPr/>
        </p:nvSpPr>
        <p:spPr>
          <a:xfrm>
            <a:off x="1047750" y="5703168"/>
            <a:ext cx="16192500" cy="9525"/>
          </a:xfrm>
          <a:prstGeom prst="rect">
            <a:avLst/>
          </a:prstGeom>
          <a:solidFill>
            <a:srgbClr val="FFFFFF">
              <a:alpha val="8000"/>
            </a:srgbClr>
          </a:solidFill>
          <a:ln/>
        </p:spPr>
      </p:sp>
      <p:sp>
        <p:nvSpPr>
          <p:cNvPr id="9" name="Text 7"/>
          <p:cNvSpPr/>
          <p:nvPr/>
        </p:nvSpPr>
        <p:spPr>
          <a:xfrm>
            <a:off x="1047750" y="5198343"/>
            <a:ext cx="4400550" cy="352425"/>
          </a:xfrm>
          <a:prstGeom prst="rect">
            <a:avLst/>
          </a:prstGeom>
          <a:noFill/>
          <a:ln/>
        </p:spPr>
        <p:txBody>
          <a:bodyPr wrap="square" lIns="25400" tIns="25400" rIns="25400" bIns="25400" rtlCol="0" anchor="t">
            <a:normAutofit/>
          </a:bodyPr>
          <a:lstStyle/>
          <a:p>
            <a:pPr algn="l" indent="0" marL="0">
              <a:lnSpc>
                <a:spcPct val="97067"/>
              </a:lnSpc>
              <a:buNone/>
            </a:pPr>
            <a:r>
              <a:rPr lang="en-US" sz="1950" b="1" spc="-19" kern="0" dirty="0">
                <a:solidFill>
                  <a:srgbClr val="4597D3"/>
                </a:solidFill>
                <a:latin typeface="Arial" pitchFamily="34" charset="0"/>
                <a:ea typeface="Arial" pitchFamily="34" charset="-122"/>
                <a:cs typeface="Arial" pitchFamily="34" charset="-120"/>
              </a:rPr>
              <a:t>Deterministic hooks</a:t>
            </a:r>
            <a:endParaRPr lang="en-US" sz="1950" dirty="0"/>
          </a:p>
        </p:txBody>
      </p:sp>
      <p:sp>
        <p:nvSpPr>
          <p:cNvPr id="10" name="Text 8"/>
          <p:cNvSpPr/>
          <p:nvPr/>
        </p:nvSpPr>
        <p:spPr>
          <a:xfrm>
            <a:off x="5429250" y="5198343"/>
            <a:ext cx="628650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Enforce at runtime — enforcement</a:t>
            </a:r>
            <a:endParaRPr lang="en-US" sz="1650" dirty="0"/>
          </a:p>
        </p:txBody>
      </p:sp>
      <p:sp>
        <p:nvSpPr>
          <p:cNvPr id="11" name="Text 9"/>
          <p:cNvSpPr/>
          <p:nvPr/>
        </p:nvSpPr>
        <p:spPr>
          <a:xfrm>
            <a:off x="11525250" y="5198343"/>
            <a:ext cx="628650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FFFFF"/>
                </a:solidFill>
                <a:latin typeface="Arial" pitchFamily="34" charset="0"/>
                <a:ea typeface="Arial" pitchFamily="34" charset="-122"/>
                <a:cs typeface="Arial" pitchFamily="34" charset="-120"/>
              </a:rPr>
              <a:t>Your opinions as guardrails</a:t>
            </a:r>
            <a:endParaRPr lang="en-US" sz="1650" dirty="0"/>
          </a:p>
        </p:txBody>
      </p:sp>
      <p:sp>
        <p:nvSpPr>
          <p:cNvPr id="12" name="Shape 10"/>
          <p:cNvSpPr/>
          <p:nvPr/>
        </p:nvSpPr>
        <p:spPr>
          <a:xfrm>
            <a:off x="1047750" y="6408018"/>
            <a:ext cx="16192500" cy="9525"/>
          </a:xfrm>
          <a:prstGeom prst="rect">
            <a:avLst/>
          </a:prstGeom>
          <a:solidFill>
            <a:srgbClr val="FFFFFF">
              <a:alpha val="8000"/>
            </a:srgbClr>
          </a:solidFill>
          <a:ln/>
        </p:spPr>
      </p:sp>
      <p:sp>
        <p:nvSpPr>
          <p:cNvPr id="13" name="Text 11"/>
          <p:cNvSpPr/>
          <p:nvPr/>
        </p:nvSpPr>
        <p:spPr>
          <a:xfrm>
            <a:off x="1047750" y="5903193"/>
            <a:ext cx="4400550" cy="352425"/>
          </a:xfrm>
          <a:prstGeom prst="rect">
            <a:avLst/>
          </a:prstGeom>
          <a:noFill/>
          <a:ln/>
        </p:spPr>
        <p:txBody>
          <a:bodyPr wrap="square" lIns="25400" tIns="25400" rIns="25400" bIns="25400" rtlCol="0" anchor="t">
            <a:normAutofit/>
          </a:bodyPr>
          <a:lstStyle/>
          <a:p>
            <a:pPr algn="l" indent="0" marL="0">
              <a:lnSpc>
                <a:spcPct val="97067"/>
              </a:lnSpc>
              <a:buNone/>
            </a:pPr>
            <a:r>
              <a:rPr lang="en-US" sz="1950" b="1" spc="-19" kern="0" dirty="0">
                <a:solidFill>
                  <a:srgbClr val="4597D3"/>
                </a:solidFill>
                <a:latin typeface="Arial" pitchFamily="34" charset="0"/>
                <a:ea typeface="Arial" pitchFamily="34" charset="-122"/>
                <a:cs typeface="Arial" pitchFamily="34" charset="-120"/>
              </a:rPr>
              <a:t>Adversarial agents</a:t>
            </a:r>
            <a:endParaRPr lang="en-US" sz="1950" dirty="0"/>
          </a:p>
        </p:txBody>
      </p:sp>
      <p:sp>
        <p:nvSpPr>
          <p:cNvPr id="14" name="Text 12"/>
          <p:cNvSpPr/>
          <p:nvPr/>
        </p:nvSpPr>
        <p:spPr>
          <a:xfrm>
            <a:off x="5429250" y="5903193"/>
            <a:ext cx="628650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Challenge before customers — exploration</a:t>
            </a:r>
            <a:endParaRPr lang="en-US" sz="1650" dirty="0"/>
          </a:p>
        </p:txBody>
      </p:sp>
      <p:sp>
        <p:nvSpPr>
          <p:cNvPr id="15" name="Text 13"/>
          <p:cNvSpPr/>
          <p:nvPr/>
        </p:nvSpPr>
        <p:spPr>
          <a:xfrm>
            <a:off x="11525250" y="5903193"/>
            <a:ext cx="628650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FFFFFF"/>
                </a:solidFill>
                <a:latin typeface="Arial" pitchFamily="34" charset="0"/>
                <a:ea typeface="Arial" pitchFamily="34" charset="-122"/>
                <a:cs typeface="Arial" pitchFamily="34" charset="-120"/>
              </a:rPr>
              <a:t>Your opinions as counterweight</a:t>
            </a:r>
            <a:endParaRPr lang="en-US" sz="1650" dirty="0"/>
          </a:p>
        </p:txBody>
      </p:sp>
      <p:sp>
        <p:nvSpPr>
          <p:cNvPr id="16" name="Text 14"/>
          <p:cNvSpPr/>
          <p:nvPr/>
        </p:nvSpPr>
        <p:spPr>
          <a:xfrm>
            <a:off x="1047750" y="6722343"/>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6F8393"/>
                </a:solidFill>
                <a:latin typeface="Arial" pitchFamily="34" charset="0"/>
                <a:ea typeface="Arial" pitchFamily="34" charset="-122"/>
                <a:cs typeface="Arial" pitchFamily="34" charset="-120"/>
              </a:rPr>
              <a:t>Your structured data feeds all three layers.</a:t>
            </a:r>
            <a:endParaRPr lang="en-US" sz="1800" dirty="0"/>
          </a:p>
        </p:txBody>
      </p:sp>
      <p:sp>
        <p:nvSpPr>
          <p:cNvPr id="17" name="Text 15"/>
          <p:cNvSpPr/>
          <p:nvPr/>
        </p:nvSpPr>
        <p:spPr>
          <a:xfrm>
            <a:off x="1047750" y="7293843"/>
            <a:ext cx="16187738" cy="720775"/>
          </a:xfrm>
          <a:prstGeom prst="rect">
            <a:avLst/>
          </a:prstGeom>
          <a:noFill/>
          <a:ln/>
        </p:spPr>
        <p:txBody>
          <a:bodyPr wrap="square" lIns="25400" tIns="25400" rIns="25400" bIns="25400" rtlCol="0" anchor="t">
            <a:normAutofit/>
          </a:bodyPr>
          <a:lstStyle/>
          <a:p>
            <a:pPr algn="l" indent="0" marL="0">
              <a:lnSpc>
                <a:spcPct val="96865"/>
              </a:lnSpc>
              <a:buNone/>
            </a:pPr>
            <a:r>
              <a:rPr lang="en-US" sz="2400" spc="-24" kern="0" dirty="0">
                <a:solidFill>
                  <a:srgbClr val="FFFFFF"/>
                </a:solidFill>
                <a:latin typeface="Arial" pitchFamily="34" charset="0"/>
                <a:ea typeface="Arial" pitchFamily="34" charset="-122"/>
                <a:cs typeface="Arial" pitchFamily="34" charset="-120"/>
              </a:rPr>
              <a:t>"Trust is not a feeling generated by a good demo. It is the outcome of a system designed to produce evidence."</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546821"/>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F5BB41"/>
                </a:solidFill>
                <a:latin typeface="Arial" pitchFamily="34" charset="0"/>
                <a:ea typeface="Arial" pitchFamily="34" charset="-122"/>
                <a:cs typeface="Arial" pitchFamily="34" charset="-120"/>
              </a:rPr>
              <a:t>LIVE DEMO · 03</a:t>
            </a:r>
            <a:endParaRPr lang="en-US" sz="1800" dirty="0"/>
          </a:p>
        </p:txBody>
      </p:sp>
      <p:sp>
        <p:nvSpPr>
          <p:cNvPr id="3" name="Text 1"/>
          <p:cNvSpPr/>
          <p:nvPr/>
        </p:nvSpPr>
        <p:spPr>
          <a:xfrm>
            <a:off x="1047750" y="3251671"/>
            <a:ext cx="17811750" cy="592782"/>
          </a:xfrm>
          <a:prstGeom prst="rect">
            <a:avLst/>
          </a:prstGeom>
          <a:noFill/>
          <a:ln/>
        </p:spPr>
        <p:txBody>
          <a:bodyPr wrap="square" lIns="25400" tIns="25400" rIns="25400" bIns="25400" rtlCol="0" anchor="t">
            <a:normAutofit/>
          </a:bodyPr>
          <a:lstStyle/>
          <a:p>
            <a:pPr algn="l" indent="0" marL="0">
              <a:lnSpc>
                <a:spcPct val="97882"/>
              </a:lnSpc>
              <a:buNone/>
            </a:pPr>
            <a:r>
              <a:rPr lang="en-US" sz="3900" b="1" spc="-39" kern="0" dirty="0">
                <a:solidFill>
                  <a:srgbClr val="FFFFFF"/>
                </a:solidFill>
                <a:latin typeface="Arial" pitchFamily="34" charset="0"/>
                <a:ea typeface="Arial" pitchFamily="34" charset="-122"/>
                <a:cs typeface="Arial" pitchFamily="34" charset="-120"/>
              </a:rPr>
              <a:t>Spec → Generate → Eval → Catch → Fix → Pass</a:t>
            </a:r>
            <a:endParaRPr lang="en-US" sz="3900" dirty="0"/>
          </a:p>
        </p:txBody>
      </p:sp>
      <p:sp>
        <p:nvSpPr>
          <p:cNvPr id="4" name="Text 2"/>
          <p:cNvSpPr/>
          <p:nvPr/>
        </p:nvSpPr>
        <p:spPr>
          <a:xfrm>
            <a:off x="1047750" y="4225454"/>
            <a:ext cx="17811750"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4597D3"/>
                </a:solidFill>
                <a:latin typeface="Arial" pitchFamily="34" charset="0"/>
                <a:ea typeface="Arial" pitchFamily="34" charset="-122"/>
                <a:cs typeface="Arial" pitchFamily="34" charset="-120"/>
              </a:rPr>
              <a:t>1. </a:t>
            </a:r>
            <a:pPr algn="l" indent="0" marL="0">
              <a:lnSpc>
                <a:spcPct val="129310"/>
              </a:lnSpc>
              <a:buNone/>
            </a:pPr>
            <a:r>
              <a:rPr lang="en-US" sz="1875" dirty="0">
                <a:solidFill>
                  <a:srgbClr val="AEC0CE"/>
                </a:solidFill>
                <a:latin typeface="Arial" pitchFamily="34" charset="0"/>
                <a:ea typeface="Arial" pitchFamily="34" charset="-122"/>
                <a:cs typeface="Arial" pitchFamily="34" charset="-120"/>
              </a:rPr>
              <a:t>Take the structured spec from Demo 2</a:t>
            </a:r>
            <a:endParaRPr lang="en-US" sz="1875" dirty="0"/>
          </a:p>
        </p:txBody>
      </p:sp>
      <p:sp>
        <p:nvSpPr>
          <p:cNvPr id="5" name="Text 3"/>
          <p:cNvSpPr/>
          <p:nvPr/>
        </p:nvSpPr>
        <p:spPr>
          <a:xfrm>
            <a:off x="1047750" y="4735041"/>
            <a:ext cx="17811750"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4597D3"/>
                </a:solidFill>
                <a:latin typeface="Arial" pitchFamily="34" charset="0"/>
                <a:ea typeface="Arial" pitchFamily="34" charset="-122"/>
                <a:cs typeface="Arial" pitchFamily="34" charset="-120"/>
              </a:rPr>
              <a:t>2. </a:t>
            </a:r>
            <a:pPr algn="l" indent="0" marL="0">
              <a:lnSpc>
                <a:spcPct val="129310"/>
              </a:lnSpc>
              <a:buNone/>
            </a:pPr>
            <a:r>
              <a:rPr lang="en-US" sz="1875" dirty="0">
                <a:solidFill>
                  <a:srgbClr val="AEC0CE"/>
                </a:solidFill>
                <a:latin typeface="Arial" pitchFamily="34" charset="0"/>
                <a:ea typeface="Arial" pitchFamily="34" charset="-122"/>
                <a:cs typeface="Arial" pitchFamily="34" charset="-120"/>
              </a:rPr>
              <a:t>Generate code against it</a:t>
            </a:r>
            <a:endParaRPr lang="en-US" sz="1875" dirty="0"/>
          </a:p>
        </p:txBody>
      </p:sp>
      <p:sp>
        <p:nvSpPr>
          <p:cNvPr id="6" name="Text 4"/>
          <p:cNvSpPr/>
          <p:nvPr/>
        </p:nvSpPr>
        <p:spPr>
          <a:xfrm>
            <a:off x="1047750" y="5244629"/>
            <a:ext cx="17811750"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4597D3"/>
                </a:solidFill>
                <a:latin typeface="Arial" pitchFamily="34" charset="0"/>
                <a:ea typeface="Arial" pitchFamily="34" charset="-122"/>
                <a:cs typeface="Arial" pitchFamily="34" charset="-120"/>
              </a:rPr>
              <a:t>3. </a:t>
            </a:r>
            <a:pPr algn="l" indent="0" marL="0">
              <a:lnSpc>
                <a:spcPct val="129310"/>
              </a:lnSpc>
              <a:buNone/>
            </a:pPr>
            <a:r>
              <a:rPr lang="en-US" sz="1875" dirty="0">
                <a:solidFill>
                  <a:srgbClr val="AEC0CE"/>
                </a:solidFill>
                <a:latin typeface="Arial" pitchFamily="34" charset="0"/>
                <a:ea typeface="Arial" pitchFamily="34" charset="-122"/>
                <a:cs typeface="Arial" pitchFamily="34" charset="-120"/>
              </a:rPr>
              <a:t>Run the eval suite</a:t>
            </a:r>
            <a:endParaRPr lang="en-US" sz="1875" dirty="0"/>
          </a:p>
        </p:txBody>
      </p:sp>
      <p:sp>
        <p:nvSpPr>
          <p:cNvPr id="7" name="Text 5"/>
          <p:cNvSpPr/>
          <p:nvPr/>
        </p:nvSpPr>
        <p:spPr>
          <a:xfrm>
            <a:off x="1047750" y="5754216"/>
            <a:ext cx="17811750"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4597D3"/>
                </a:solidFill>
                <a:latin typeface="Arial" pitchFamily="34" charset="0"/>
                <a:ea typeface="Arial" pitchFamily="34" charset="-122"/>
                <a:cs typeface="Arial" pitchFamily="34" charset="-120"/>
              </a:rPr>
              <a:t>4. </a:t>
            </a:r>
            <a:pPr algn="l" indent="0" marL="0">
              <a:lnSpc>
                <a:spcPct val="129310"/>
              </a:lnSpc>
              <a:buNone/>
            </a:pPr>
            <a:r>
              <a:rPr lang="en-US" sz="1875" dirty="0">
                <a:solidFill>
                  <a:srgbClr val="AEC0CE"/>
                </a:solidFill>
                <a:latin typeface="Arial" pitchFamily="34" charset="0"/>
                <a:ea typeface="Arial" pitchFamily="34" charset="-122"/>
                <a:cs typeface="Arial" pitchFamily="34" charset="-120"/>
              </a:rPr>
              <a:t>Watch it catch a hallucination that looks correct to a human reviewer</a:t>
            </a:r>
            <a:endParaRPr lang="en-US" sz="1875" dirty="0"/>
          </a:p>
        </p:txBody>
      </p:sp>
      <p:sp>
        <p:nvSpPr>
          <p:cNvPr id="8" name="Text 6"/>
          <p:cNvSpPr/>
          <p:nvPr/>
        </p:nvSpPr>
        <p:spPr>
          <a:xfrm>
            <a:off x="1047750" y="6263804"/>
            <a:ext cx="17811750"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4597D3"/>
                </a:solidFill>
                <a:latin typeface="Arial" pitchFamily="34" charset="0"/>
                <a:ea typeface="Arial" pitchFamily="34" charset="-122"/>
                <a:cs typeface="Arial" pitchFamily="34" charset="-120"/>
              </a:rPr>
              <a:t>5. </a:t>
            </a:r>
            <a:pPr algn="l" indent="0" marL="0">
              <a:lnSpc>
                <a:spcPct val="129310"/>
              </a:lnSpc>
              <a:buNone/>
            </a:pPr>
            <a:r>
              <a:rPr lang="en-US" sz="1875" dirty="0">
                <a:solidFill>
                  <a:srgbClr val="AEC0CE"/>
                </a:solidFill>
                <a:latin typeface="Arial" pitchFamily="34" charset="0"/>
                <a:ea typeface="Arial" pitchFamily="34" charset="-122"/>
                <a:cs typeface="Arial" pitchFamily="34" charset="-120"/>
              </a:rPr>
              <a:t>Iterate until it passes</a:t>
            </a:r>
            <a:endParaRPr lang="en-US" sz="1875" dirty="0"/>
          </a:p>
        </p:txBody>
      </p:sp>
      <p:sp>
        <p:nvSpPr>
          <p:cNvPr id="9" name="Text 7"/>
          <p:cNvSpPr/>
          <p:nvPr/>
        </p:nvSpPr>
        <p:spPr>
          <a:xfrm>
            <a:off x="1047750" y="6773391"/>
            <a:ext cx="17811750"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4597D3"/>
                </a:solidFill>
                <a:latin typeface="Arial" pitchFamily="34" charset="0"/>
                <a:ea typeface="Arial" pitchFamily="34" charset="-122"/>
                <a:cs typeface="Arial" pitchFamily="34" charset="-120"/>
              </a:rPr>
              <a:t>6. </a:t>
            </a:r>
            <a:pPr algn="l" indent="0" marL="0">
              <a:lnSpc>
                <a:spcPct val="129310"/>
              </a:lnSpc>
              <a:buNone/>
            </a:pPr>
            <a:r>
              <a:rPr lang="en-US" sz="1875" dirty="0">
                <a:solidFill>
                  <a:srgbClr val="AEC0CE"/>
                </a:solidFill>
                <a:latin typeface="Arial" pitchFamily="34" charset="0"/>
                <a:ea typeface="Arial" pitchFamily="34" charset="-122"/>
                <a:cs typeface="Arial" pitchFamily="34" charset="-120"/>
              </a:rPr>
              <a:t>Show regression protection by changing the prompt</a:t>
            </a:r>
            <a:endParaRPr lang="en-US" sz="1875" dirty="0"/>
          </a:p>
        </p:txBody>
      </p:sp>
      <p:sp>
        <p:nvSpPr>
          <p:cNvPr id="10" name="Text 8"/>
          <p:cNvSpPr/>
          <p:nvPr/>
        </p:nvSpPr>
        <p:spPr>
          <a:xfrm>
            <a:off x="1047750" y="7549679"/>
            <a:ext cx="1728787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The moment the eval catches a hallucination that looks correct to a human — that's the moment you see why vibes aren't enough.</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947020"/>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RECAP</a:t>
            </a:r>
            <a:endParaRPr lang="en-US" sz="1800" dirty="0"/>
          </a:p>
        </p:txBody>
      </p:sp>
      <p:sp>
        <p:nvSpPr>
          <p:cNvPr id="3" name="Text 1"/>
          <p:cNvSpPr/>
          <p:nvPr/>
        </p:nvSpPr>
        <p:spPr>
          <a:xfrm>
            <a:off x="1047750" y="3651870"/>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The Complete Replacement for Vibes</a:t>
            </a:r>
            <a:endParaRPr lang="en-US" sz="4500" dirty="0"/>
          </a:p>
        </p:txBody>
      </p:sp>
      <p:sp>
        <p:nvSpPr>
          <p:cNvPr id="4" name="Shape 2"/>
          <p:cNvSpPr/>
          <p:nvPr/>
        </p:nvSpPr>
        <p:spPr>
          <a:xfrm>
            <a:off x="1047750" y="5244405"/>
            <a:ext cx="16192500" cy="19050"/>
          </a:xfrm>
          <a:prstGeom prst="rect">
            <a:avLst/>
          </a:prstGeom>
          <a:solidFill>
            <a:srgbClr val="FFFFFF">
              <a:alpha val="14000"/>
            </a:srgbClr>
          </a:solidFill>
          <a:ln/>
        </p:spPr>
      </p:sp>
      <p:sp>
        <p:nvSpPr>
          <p:cNvPr id="5" name="Text 3"/>
          <p:cNvSpPr/>
          <p:nvPr/>
        </p:nvSpPr>
        <p:spPr>
          <a:xfrm>
            <a:off x="1047750" y="4787205"/>
            <a:ext cx="39814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DISCIPLINE</a:t>
            </a:r>
            <a:endParaRPr lang="en-US" sz="1800" dirty="0"/>
          </a:p>
        </p:txBody>
      </p:sp>
      <p:sp>
        <p:nvSpPr>
          <p:cNvPr id="6" name="Text 4"/>
          <p:cNvSpPr/>
          <p:nvPr/>
        </p:nvSpPr>
        <p:spPr>
          <a:xfrm>
            <a:off x="5048250" y="4787205"/>
            <a:ext cx="64960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WHAT IT GIVES YOU</a:t>
            </a:r>
            <a:endParaRPr lang="en-US" sz="1800" dirty="0"/>
          </a:p>
        </p:txBody>
      </p:sp>
      <p:sp>
        <p:nvSpPr>
          <p:cNvPr id="7" name="Text 5"/>
          <p:cNvSpPr/>
          <p:nvPr/>
        </p:nvSpPr>
        <p:spPr>
          <a:xfrm>
            <a:off x="11334750" y="4787205"/>
            <a:ext cx="64960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WITHOUT IT</a:t>
            </a:r>
            <a:endParaRPr lang="en-US" sz="1800" dirty="0"/>
          </a:p>
        </p:txBody>
      </p:sp>
      <p:sp>
        <p:nvSpPr>
          <p:cNvPr id="8" name="Shape 6"/>
          <p:cNvSpPr/>
          <p:nvPr/>
        </p:nvSpPr>
        <p:spPr>
          <a:xfrm>
            <a:off x="1047750" y="5996880"/>
            <a:ext cx="16192500" cy="9525"/>
          </a:xfrm>
          <a:prstGeom prst="rect">
            <a:avLst/>
          </a:prstGeom>
          <a:solidFill>
            <a:srgbClr val="FFFFFF">
              <a:alpha val="8000"/>
            </a:srgbClr>
          </a:solidFill>
          <a:ln/>
        </p:spPr>
      </p:sp>
      <p:sp>
        <p:nvSpPr>
          <p:cNvPr id="9" name="Text 7"/>
          <p:cNvSpPr/>
          <p:nvPr/>
        </p:nvSpPr>
        <p:spPr>
          <a:xfrm>
            <a:off x="1047750" y="5473005"/>
            <a:ext cx="3981450" cy="352425"/>
          </a:xfrm>
          <a:prstGeom prst="rect">
            <a:avLst/>
          </a:prstGeom>
          <a:noFill/>
          <a:ln/>
        </p:spPr>
        <p:txBody>
          <a:bodyPr wrap="square" lIns="25400" tIns="25400" rIns="25400" bIns="25400" rtlCol="0" anchor="t">
            <a:normAutofit/>
          </a:bodyPr>
          <a:lstStyle/>
          <a:p>
            <a:pPr algn="l" indent="0" marL="0">
              <a:lnSpc>
                <a:spcPct val="97067"/>
              </a:lnSpc>
              <a:buNone/>
            </a:pPr>
            <a:r>
              <a:rPr lang="en-US" sz="1950" b="1" spc="-19" kern="0" dirty="0">
                <a:solidFill>
                  <a:srgbClr val="4597D3"/>
                </a:solidFill>
                <a:latin typeface="Arial" pitchFamily="34" charset="0"/>
                <a:ea typeface="Arial" pitchFamily="34" charset="-122"/>
                <a:cs typeface="Arial" pitchFamily="34" charset="-120"/>
              </a:rPr>
              <a:t>Living Context</a:t>
            </a:r>
            <a:endParaRPr lang="en-US" sz="1950" dirty="0"/>
          </a:p>
        </p:txBody>
      </p:sp>
      <p:sp>
        <p:nvSpPr>
          <p:cNvPr id="10" name="Text 8"/>
          <p:cNvSpPr/>
          <p:nvPr/>
        </p:nvSpPr>
        <p:spPr>
          <a:xfrm>
            <a:off x="5048250" y="5473005"/>
            <a:ext cx="649605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Durable, versioned, agent-accessible, enterprise-integrated</a:t>
            </a:r>
            <a:endParaRPr lang="en-US" sz="1650" dirty="0"/>
          </a:p>
        </p:txBody>
      </p:sp>
      <p:sp>
        <p:nvSpPr>
          <p:cNvPr id="11" name="Text 9"/>
          <p:cNvSpPr/>
          <p:nvPr/>
        </p:nvSpPr>
        <p:spPr>
          <a:xfrm>
            <a:off x="11334750" y="5473005"/>
            <a:ext cx="649605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6F8393"/>
                </a:solidFill>
                <a:latin typeface="Arial" pitchFamily="34" charset="0"/>
                <a:ea typeface="Arial" pitchFamily="34" charset="-122"/>
                <a:cs typeface="Arial" pitchFamily="34" charset="-120"/>
              </a:rPr>
              <a:t>Context decay, architectural drift</a:t>
            </a:r>
            <a:endParaRPr lang="en-US" sz="1650" dirty="0"/>
          </a:p>
        </p:txBody>
      </p:sp>
      <p:sp>
        <p:nvSpPr>
          <p:cNvPr id="12" name="Shape 10"/>
          <p:cNvSpPr/>
          <p:nvPr/>
        </p:nvSpPr>
        <p:spPr>
          <a:xfrm>
            <a:off x="1047750" y="6739830"/>
            <a:ext cx="16192500" cy="9525"/>
          </a:xfrm>
          <a:prstGeom prst="rect">
            <a:avLst/>
          </a:prstGeom>
          <a:solidFill>
            <a:srgbClr val="FFFFFF">
              <a:alpha val="8000"/>
            </a:srgbClr>
          </a:solidFill>
          <a:ln/>
        </p:spPr>
      </p:sp>
      <p:sp>
        <p:nvSpPr>
          <p:cNvPr id="13" name="Text 11"/>
          <p:cNvSpPr/>
          <p:nvPr/>
        </p:nvSpPr>
        <p:spPr>
          <a:xfrm>
            <a:off x="1047750" y="6215955"/>
            <a:ext cx="3981450" cy="352425"/>
          </a:xfrm>
          <a:prstGeom prst="rect">
            <a:avLst/>
          </a:prstGeom>
          <a:noFill/>
          <a:ln/>
        </p:spPr>
        <p:txBody>
          <a:bodyPr wrap="square" lIns="25400" tIns="25400" rIns="25400" bIns="25400" rtlCol="0" anchor="t">
            <a:normAutofit/>
          </a:bodyPr>
          <a:lstStyle/>
          <a:p>
            <a:pPr algn="l" indent="0" marL="0">
              <a:lnSpc>
                <a:spcPct val="97067"/>
              </a:lnSpc>
              <a:buNone/>
            </a:pPr>
            <a:r>
              <a:rPr lang="en-US" sz="1950" b="1" spc="-19" kern="0" dirty="0">
                <a:solidFill>
                  <a:srgbClr val="4597D3"/>
                </a:solidFill>
                <a:latin typeface="Arial" pitchFamily="34" charset="0"/>
                <a:ea typeface="Arial" pitchFamily="34" charset="-122"/>
                <a:cs typeface="Arial" pitchFamily="34" charset="-120"/>
              </a:rPr>
              <a:t>Structured Data</a:t>
            </a:r>
            <a:endParaRPr lang="en-US" sz="1950" dirty="0"/>
          </a:p>
        </p:txBody>
      </p:sp>
      <p:sp>
        <p:nvSpPr>
          <p:cNvPr id="14" name="Text 12"/>
          <p:cNvSpPr/>
          <p:nvPr/>
        </p:nvSpPr>
        <p:spPr>
          <a:xfrm>
            <a:off x="5048250" y="6215955"/>
            <a:ext cx="649605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Machine-readable, validatable, opinion-enforcing</a:t>
            </a:r>
            <a:endParaRPr lang="en-US" sz="1650" dirty="0"/>
          </a:p>
        </p:txBody>
      </p:sp>
      <p:sp>
        <p:nvSpPr>
          <p:cNvPr id="15" name="Text 13"/>
          <p:cNvSpPr/>
          <p:nvPr/>
        </p:nvSpPr>
        <p:spPr>
          <a:xfrm>
            <a:off x="11334750" y="6215955"/>
            <a:ext cx="649605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6F8393"/>
                </a:solidFill>
                <a:latin typeface="Arial" pitchFamily="34" charset="0"/>
                <a:ea typeface="Arial" pitchFamily="34" charset="-122"/>
                <a:cs typeface="Arial" pitchFamily="34" charset="-120"/>
              </a:rPr>
              <a:t>Plausible-but-unverifiable parsing</a:t>
            </a:r>
            <a:endParaRPr lang="en-US" sz="1650" dirty="0"/>
          </a:p>
        </p:txBody>
      </p:sp>
      <p:sp>
        <p:nvSpPr>
          <p:cNvPr id="16" name="Shape 14"/>
          <p:cNvSpPr/>
          <p:nvPr/>
        </p:nvSpPr>
        <p:spPr>
          <a:xfrm>
            <a:off x="1047750" y="7482780"/>
            <a:ext cx="16192500" cy="9525"/>
          </a:xfrm>
          <a:prstGeom prst="rect">
            <a:avLst/>
          </a:prstGeom>
          <a:solidFill>
            <a:srgbClr val="FFFFFF">
              <a:alpha val="8000"/>
            </a:srgbClr>
          </a:solidFill>
          <a:ln/>
        </p:spPr>
      </p:sp>
      <p:sp>
        <p:nvSpPr>
          <p:cNvPr id="17" name="Text 15"/>
          <p:cNvSpPr/>
          <p:nvPr/>
        </p:nvSpPr>
        <p:spPr>
          <a:xfrm>
            <a:off x="1047750" y="6958905"/>
            <a:ext cx="3981450" cy="352425"/>
          </a:xfrm>
          <a:prstGeom prst="rect">
            <a:avLst/>
          </a:prstGeom>
          <a:noFill/>
          <a:ln/>
        </p:spPr>
        <p:txBody>
          <a:bodyPr wrap="square" lIns="25400" tIns="25400" rIns="25400" bIns="25400" rtlCol="0" anchor="t">
            <a:normAutofit/>
          </a:bodyPr>
          <a:lstStyle/>
          <a:p>
            <a:pPr algn="l" indent="0" marL="0">
              <a:lnSpc>
                <a:spcPct val="97067"/>
              </a:lnSpc>
              <a:buNone/>
            </a:pPr>
            <a:r>
              <a:rPr lang="en-US" sz="1950" b="1" spc="-19" kern="0" dirty="0">
                <a:solidFill>
                  <a:srgbClr val="4597D3"/>
                </a:solidFill>
                <a:latin typeface="Arial" pitchFamily="34" charset="0"/>
                <a:ea typeface="Arial" pitchFamily="34" charset="-122"/>
                <a:cs typeface="Arial" pitchFamily="34" charset="-120"/>
              </a:rPr>
              <a:t>EDD</a:t>
            </a:r>
            <a:endParaRPr lang="en-US" sz="1950" dirty="0"/>
          </a:p>
        </p:txBody>
      </p:sp>
      <p:sp>
        <p:nvSpPr>
          <p:cNvPr id="18" name="Text 16"/>
          <p:cNvSpPr/>
          <p:nvPr/>
        </p:nvSpPr>
        <p:spPr>
          <a:xfrm>
            <a:off x="5048250" y="6958905"/>
            <a:ext cx="649605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AEC0CE"/>
                </a:solidFill>
                <a:latin typeface="Arial" pitchFamily="34" charset="0"/>
                <a:ea typeface="Arial" pitchFamily="34" charset="-122"/>
                <a:cs typeface="Arial" pitchFamily="34" charset="-120"/>
              </a:rPr>
              <a:t>Evidence output meets your standards, regression protection</a:t>
            </a:r>
            <a:endParaRPr lang="en-US" sz="1650" dirty="0"/>
          </a:p>
        </p:txBody>
      </p:sp>
      <p:sp>
        <p:nvSpPr>
          <p:cNvPr id="19" name="Text 17"/>
          <p:cNvSpPr/>
          <p:nvPr/>
        </p:nvSpPr>
        <p:spPr>
          <a:xfrm>
            <a:off x="11334750" y="6958905"/>
            <a:ext cx="6496050" cy="352425"/>
          </a:xfrm>
          <a:prstGeom prst="rect">
            <a:avLst/>
          </a:prstGeom>
          <a:noFill/>
          <a:ln/>
        </p:spPr>
        <p:txBody>
          <a:bodyPr wrap="square" lIns="25400" tIns="25400" rIns="25400" bIns="25400" rtlCol="0" anchor="t">
            <a:normAutofit/>
          </a:bodyPr>
          <a:lstStyle/>
          <a:p>
            <a:pPr algn="l" indent="0" marL="0">
              <a:lnSpc>
                <a:spcPct val="132000"/>
              </a:lnSpc>
              <a:buNone/>
            </a:pPr>
            <a:r>
              <a:rPr lang="en-US" sz="1650" dirty="0">
                <a:solidFill>
                  <a:srgbClr val="6F8393"/>
                </a:solidFill>
                <a:latin typeface="Arial" pitchFamily="34" charset="0"/>
                <a:ea typeface="Arial" pitchFamily="34" charset="-122"/>
                <a:cs typeface="Arial" pitchFamily="34" charset="-120"/>
              </a:rPr>
              <a:t>Flying on vibes, hoping for the best</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41F"/>
        </a:solidFill>
      </p:bgPr>
    </p:bg>
    <p:spTree>
      <p:nvGrpSpPr>
        <p:cNvPr id="1" name=""/>
        <p:cNvGrpSpPr/>
        <p:nvPr/>
      </p:nvGrpSpPr>
      <p:grpSpPr>
        <a:xfrm>
          <a:off x="0" y="0"/>
          <a:ext cx="0" cy="0"/>
          <a:chOff x="0" y="0"/>
          <a:chExt cx="0" cy="0"/>
        </a:xfrm>
      </p:grpSpPr>
      <p:sp>
        <p:nvSpPr>
          <p:cNvPr id="2" name="Text 0"/>
          <p:cNvSpPr/>
          <p:nvPr/>
        </p:nvSpPr>
        <p:spPr>
          <a:xfrm>
            <a:off x="1047750" y="4123581"/>
            <a:ext cx="1717246"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SECTION 04</a:t>
            </a:r>
            <a:endParaRPr lang="en-US" sz="1800" dirty="0"/>
          </a:p>
        </p:txBody>
      </p:sp>
      <p:sp>
        <p:nvSpPr>
          <p:cNvPr id="3" name="Text 1"/>
          <p:cNvSpPr/>
          <p:nvPr/>
        </p:nvSpPr>
        <p:spPr>
          <a:xfrm>
            <a:off x="1047750" y="4676031"/>
            <a:ext cx="16983864" cy="763488"/>
          </a:xfrm>
          <a:prstGeom prst="rect">
            <a:avLst/>
          </a:prstGeom>
          <a:noFill/>
          <a:ln/>
        </p:spPr>
        <p:txBody>
          <a:bodyPr wrap="square" lIns="25400" tIns="25400" rIns="25400" bIns="25400" rtlCol="0" anchor="t">
            <a:normAutofit/>
          </a:bodyPr>
          <a:lstStyle/>
          <a:p>
            <a:pPr algn="l" indent="0" marL="0">
              <a:lnSpc>
                <a:spcPct val="97641"/>
              </a:lnSpc>
              <a:buNone/>
            </a:pPr>
            <a:r>
              <a:rPr lang="en-US" sz="5100" b="1" spc="-51" kern="0" dirty="0">
                <a:solidFill>
                  <a:srgbClr val="FFFFFF"/>
                </a:solidFill>
                <a:latin typeface="Arial" pitchFamily="34" charset="0"/>
                <a:ea typeface="Arial" pitchFamily="34" charset="-122"/>
                <a:cs typeface="Arial" pitchFamily="34" charset="-120"/>
              </a:rPr>
              <a:t>Are Epics and Stories Still the Right Unit of Work?</a:t>
            </a:r>
            <a:endParaRPr lang="en-US" sz="5100" dirty="0"/>
          </a:p>
        </p:txBody>
      </p:sp>
      <p:sp>
        <p:nvSpPr>
          <p:cNvPr id="4" name="Text 2"/>
          <p:cNvSpPr/>
          <p:nvPr/>
        </p:nvSpPr>
        <p:spPr>
          <a:xfrm>
            <a:off x="1047750" y="5820519"/>
            <a:ext cx="6567264"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5BB41"/>
                </a:solidFill>
                <a:latin typeface="Arial" pitchFamily="34" charset="0"/>
                <a:ea typeface="Arial" pitchFamily="34" charset="-122"/>
                <a:cs typeface="Arial" pitchFamily="34" charset="-120"/>
              </a:rPr>
              <a:t>Given an AI-augmented SDLC with Living Context and EDD...</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8006127" y="3259559"/>
            <a:ext cx="2275746" cy="323850"/>
          </a:xfrm>
          <a:prstGeom prst="rect">
            <a:avLst/>
          </a:prstGeom>
          <a:noFill/>
          <a:ln/>
        </p:spPr>
        <p:txBody>
          <a:bodyPr wrap="square" lIns="25400" tIns="25400" rIns="25400" bIns="25400" rtlCol="0" anchor="t">
            <a:normAutofit/>
          </a:bodyPr>
          <a:lstStyle/>
          <a:p>
            <a:pPr algn="ctr"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CHALLENGE</a:t>
            </a:r>
            <a:endParaRPr lang="en-US" sz="1800" dirty="0"/>
          </a:p>
        </p:txBody>
      </p:sp>
      <p:sp>
        <p:nvSpPr>
          <p:cNvPr id="3" name="Text 1"/>
          <p:cNvSpPr/>
          <p:nvPr/>
        </p:nvSpPr>
        <p:spPr>
          <a:xfrm>
            <a:off x="1295400" y="3964409"/>
            <a:ext cx="15697200" cy="1318171"/>
          </a:xfrm>
          <a:prstGeom prst="rect">
            <a:avLst/>
          </a:prstGeom>
          <a:noFill/>
          <a:ln/>
        </p:spPr>
        <p:txBody>
          <a:bodyPr wrap="square" lIns="25400" tIns="25400" rIns="25400" bIns="25400" rtlCol="0" anchor="t">
            <a:normAutofit/>
          </a:bodyPr>
          <a:lstStyle/>
          <a:p>
            <a:pPr algn="ctr" indent="0" marL="0">
              <a:lnSpc>
                <a:spcPct val="122182"/>
              </a:lnSpc>
              <a:buNone/>
            </a:pPr>
            <a:r>
              <a:rPr lang="en-US" sz="3600" spc="-36" kern="0" dirty="0">
                <a:solidFill>
                  <a:srgbClr val="FFFFFF"/>
                </a:solidFill>
                <a:latin typeface="Arial" pitchFamily="34" charset="0"/>
                <a:ea typeface="Arial" pitchFamily="34" charset="-122"/>
                <a:cs typeface="Arial" pitchFamily="34" charset="-120"/>
              </a:rPr>
              <a:t>Given a custom-developed set of EDD prompts that define how work is decomposed, specified, validated, and delivered —</a:t>
            </a:r>
            <a:endParaRPr lang="en-US" sz="3600" dirty="0"/>
          </a:p>
        </p:txBody>
      </p:sp>
      <p:sp>
        <p:nvSpPr>
          <p:cNvPr id="4" name="Text 2"/>
          <p:cNvSpPr/>
          <p:nvPr/>
        </p:nvSpPr>
        <p:spPr>
          <a:xfrm>
            <a:off x="1295400" y="5587380"/>
            <a:ext cx="15697200" cy="1478161"/>
          </a:xfrm>
          <a:prstGeom prst="rect">
            <a:avLst/>
          </a:prstGeom>
          <a:noFill/>
          <a:ln/>
        </p:spPr>
        <p:txBody>
          <a:bodyPr wrap="square" lIns="25400" tIns="25400" rIns="25400" bIns="25400" rtlCol="0" anchor="t">
            <a:normAutofit/>
          </a:bodyPr>
          <a:lstStyle/>
          <a:p>
            <a:pPr algn="ctr" indent="0" marL="0">
              <a:lnSpc>
                <a:spcPct val="117209"/>
              </a:lnSpc>
              <a:buNone/>
            </a:pPr>
            <a:r>
              <a:rPr lang="en-US" sz="4200" b="1" spc="-42" kern="0" dirty="0">
                <a:solidFill>
                  <a:srgbClr val="F5BB41"/>
                </a:solidFill>
                <a:latin typeface="Arial" pitchFamily="34" charset="0"/>
                <a:ea typeface="Arial" pitchFamily="34" charset="-122"/>
                <a:cs typeface="Arial" pitchFamily="34" charset="-120"/>
              </a:rPr>
              <a:t>are "Epics" and "Stories" actually the correct way to decompose the work?</a:t>
            </a:r>
            <a:endParaRPr lang="en-US" sz="4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531790"/>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CHALLENGE</a:t>
            </a:r>
            <a:endParaRPr lang="en-US" sz="1800" dirty="0"/>
          </a:p>
        </p:txBody>
      </p:sp>
      <p:sp>
        <p:nvSpPr>
          <p:cNvPr id="3" name="Text 1"/>
          <p:cNvSpPr/>
          <p:nvPr/>
        </p:nvSpPr>
        <p:spPr>
          <a:xfrm>
            <a:off x="1047750" y="3236640"/>
            <a:ext cx="17287875"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Epics and Stories Are Human-Centric Artifacts</a:t>
            </a:r>
            <a:endParaRPr lang="en-US" sz="4500" dirty="0"/>
          </a:p>
        </p:txBody>
      </p:sp>
      <p:sp>
        <p:nvSpPr>
          <p:cNvPr id="4" name="Text 2"/>
          <p:cNvSpPr/>
          <p:nvPr/>
        </p:nvSpPr>
        <p:spPr>
          <a:xfrm>
            <a:off x="1047750" y="4352925"/>
            <a:ext cx="162401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Optimized for human sprint planning, human estimation, human communication.</a:t>
            </a:r>
            <a:endParaRPr lang="en-US" sz="1950" dirty="0"/>
          </a:p>
        </p:txBody>
      </p:sp>
      <p:sp>
        <p:nvSpPr>
          <p:cNvPr id="5" name="Text 3"/>
          <p:cNvSpPr/>
          <p:nvPr/>
        </p:nvSpPr>
        <p:spPr>
          <a:xfrm>
            <a:off x="1047750" y="4914900"/>
            <a:ext cx="162401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Agents don't estimate in story points.</a:t>
            </a:r>
            <a:endParaRPr lang="en-US" sz="1950" dirty="0"/>
          </a:p>
        </p:txBody>
      </p:sp>
      <p:sp>
        <p:nvSpPr>
          <p:cNvPr id="6" name="Text 4"/>
          <p:cNvSpPr/>
          <p:nvPr/>
        </p:nvSpPr>
        <p:spPr>
          <a:xfrm>
            <a:off x="1047750" y="5476875"/>
            <a:ext cx="162401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Agents don't need sprint cadence to stay focused.</a:t>
            </a:r>
            <a:endParaRPr lang="en-US" sz="1950" dirty="0"/>
          </a:p>
        </p:txBody>
      </p:sp>
      <p:sp>
        <p:nvSpPr>
          <p:cNvPr id="7" name="Text 5"/>
          <p:cNvSpPr/>
          <p:nvPr/>
        </p:nvSpPr>
        <p:spPr>
          <a:xfrm>
            <a:off x="1047750" y="6038850"/>
            <a:ext cx="16240125" cy="40957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AEC0CE"/>
                </a:solidFill>
                <a:latin typeface="Arial" pitchFamily="34" charset="0"/>
                <a:ea typeface="Arial" pitchFamily="34" charset="-122"/>
                <a:cs typeface="Arial" pitchFamily="34" charset="-120"/>
              </a:rPr>
              <a:t>Agents don't lose context between sessions if your Living Context is working.</a:t>
            </a:r>
            <a:endParaRPr lang="en-US" sz="1950" dirty="0"/>
          </a:p>
        </p:txBody>
      </p:sp>
      <p:sp>
        <p:nvSpPr>
          <p:cNvPr id="8" name="Text 6"/>
          <p:cNvSpPr/>
          <p:nvPr/>
        </p:nvSpPr>
        <p:spPr>
          <a:xfrm>
            <a:off x="1047750" y="6981825"/>
            <a:ext cx="16187738" cy="963811"/>
          </a:xfrm>
          <a:prstGeom prst="rect">
            <a:avLst/>
          </a:prstGeom>
          <a:noFill/>
          <a:ln/>
        </p:spPr>
        <p:txBody>
          <a:bodyPr wrap="square" lIns="25400" tIns="25400" rIns="25400" bIns="25400" rtlCol="0" anchor="t">
            <a:normAutofit/>
          </a:bodyPr>
          <a:lstStyle/>
          <a:p>
            <a:pPr algn="l" indent="0" marL="0">
              <a:lnSpc>
                <a:spcPct val="118537"/>
              </a:lnSpc>
              <a:buNone/>
            </a:pPr>
            <a:r>
              <a:rPr lang="en-US" sz="2700" spc="-27" kern="0" dirty="0">
                <a:solidFill>
                  <a:srgbClr val="5BC2A7"/>
                </a:solidFill>
                <a:latin typeface="Arial" pitchFamily="34" charset="0"/>
                <a:ea typeface="Arial" pitchFamily="34" charset="-122"/>
                <a:cs typeface="Arial" pitchFamily="34" charset="-120"/>
              </a:rPr>
              <a:t>Capability → Constraint Set → Verified Delivery — tied to measurable business outcomes, not time-boxed human effort.</a:t>
            </a:r>
            <a:endParaRPr lang="en-US" sz="2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3120405"/>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THE CHALLENGE</a:t>
            </a:r>
            <a:endParaRPr lang="en-US" sz="1800" dirty="0"/>
          </a:p>
        </p:txBody>
      </p:sp>
      <p:sp>
        <p:nvSpPr>
          <p:cNvPr id="3" name="Text 1"/>
          <p:cNvSpPr/>
          <p:nvPr/>
        </p:nvSpPr>
        <p:spPr>
          <a:xfrm>
            <a:off x="1047750" y="3825255"/>
            <a:ext cx="17287875"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The Frameworks Inherit What They Should Question</a:t>
            </a:r>
            <a:endParaRPr lang="en-US" sz="4500" dirty="0"/>
          </a:p>
        </p:txBody>
      </p:sp>
      <p:sp>
        <p:nvSpPr>
          <p:cNvPr id="4" name="Text 2"/>
          <p:cNvSpPr/>
          <p:nvPr/>
        </p:nvSpPr>
        <p:spPr>
          <a:xfrm>
            <a:off x="1047750" y="4998690"/>
            <a:ext cx="15697200"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BMAD, Kiro, and SDD frameworks all still use Epics and Stories because they were designed to fit into existing enterprise process. But if you're building EDD from the ground up, you have the opportunity to question that inheritance.</a:t>
            </a:r>
            <a:endParaRPr lang="en-US" sz="2250" dirty="0"/>
          </a:p>
        </p:txBody>
      </p:sp>
      <p:sp>
        <p:nvSpPr>
          <p:cNvPr id="5" name="Text 3"/>
          <p:cNvSpPr/>
          <p:nvPr/>
        </p:nvSpPr>
        <p:spPr>
          <a:xfrm>
            <a:off x="1047750" y="6465540"/>
            <a:ext cx="16187738" cy="891480"/>
          </a:xfrm>
          <a:prstGeom prst="rect">
            <a:avLst/>
          </a:prstGeom>
          <a:noFill/>
          <a:ln/>
        </p:spPr>
        <p:txBody>
          <a:bodyPr wrap="square" lIns="25400" tIns="25400" rIns="25400" bIns="25400" rtlCol="0" anchor="t">
            <a:normAutofit/>
          </a:bodyPr>
          <a:lstStyle/>
          <a:p>
            <a:pPr algn="l" indent="0" marL="0">
              <a:lnSpc>
                <a:spcPct val="97391"/>
              </a:lnSpc>
              <a:buNone/>
            </a:pPr>
            <a:r>
              <a:rPr lang="en-US" sz="3000" spc="-30" kern="0" dirty="0">
                <a:solidFill>
                  <a:srgbClr val="FFFFFF"/>
                </a:solidFill>
                <a:latin typeface="Arial" pitchFamily="34" charset="0"/>
                <a:ea typeface="Arial" pitchFamily="34" charset="-122"/>
                <a:cs typeface="Arial" pitchFamily="34" charset="-120"/>
              </a:rPr>
              <a:t>"Not 'we've always done it that way.' What does the work actually need to look like now?"</a:t>
            </a:r>
            <a:endParaRPr lang="en-US" sz="3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499345"/>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4597D3"/>
                </a:solidFill>
                <a:latin typeface="Arial" pitchFamily="34" charset="0"/>
                <a:ea typeface="Arial" pitchFamily="34" charset="-122"/>
                <a:cs typeface="Arial" pitchFamily="34" charset="-120"/>
              </a:rPr>
              <a:t>CLOSING</a:t>
            </a:r>
            <a:endParaRPr lang="en-US" sz="1800" dirty="0"/>
          </a:p>
        </p:txBody>
      </p:sp>
      <p:sp>
        <p:nvSpPr>
          <p:cNvPr id="3" name="Text 1"/>
          <p:cNvSpPr/>
          <p:nvPr/>
        </p:nvSpPr>
        <p:spPr>
          <a:xfrm>
            <a:off x="1047750" y="3204195"/>
            <a:ext cx="17811750" cy="678135"/>
          </a:xfrm>
          <a:prstGeom prst="rect">
            <a:avLst/>
          </a:prstGeom>
          <a:noFill/>
          <a:ln/>
        </p:spPr>
        <p:txBody>
          <a:bodyPr wrap="square" lIns="25400" tIns="25400" rIns="25400" bIns="25400" rtlCol="0" anchor="t">
            <a:normAutofit/>
          </a:bodyPr>
          <a:lstStyle/>
          <a:p>
            <a:pPr algn="l" indent="0" marL="0">
              <a:lnSpc>
                <a:spcPct val="97391"/>
              </a:lnSpc>
              <a:buNone/>
            </a:pPr>
            <a:r>
              <a:rPr lang="en-US" sz="4500" b="1" spc="-45" kern="0" dirty="0">
                <a:solidFill>
                  <a:srgbClr val="FFFFFF"/>
                </a:solidFill>
                <a:latin typeface="Arial" pitchFamily="34" charset="0"/>
                <a:ea typeface="Arial" pitchFamily="34" charset="-122"/>
                <a:cs typeface="Arial" pitchFamily="34" charset="-120"/>
              </a:rPr>
              <a:t>Improving Can Help</a:t>
            </a:r>
            <a:endParaRPr lang="en-US" sz="4500" dirty="0"/>
          </a:p>
        </p:txBody>
      </p:sp>
      <p:sp>
        <p:nvSpPr>
          <p:cNvPr id="4" name="Text 2"/>
          <p:cNvSpPr/>
          <p:nvPr/>
        </p:nvSpPr>
        <p:spPr>
          <a:xfrm>
            <a:off x="1047750" y="4301430"/>
            <a:ext cx="15697200"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dirty="0">
                <a:solidFill>
                  <a:srgbClr val="AEC0CE"/>
                </a:solidFill>
                <a:latin typeface="Arial" pitchFamily="34" charset="0"/>
                <a:ea typeface="Arial" pitchFamily="34" charset="-122"/>
                <a:cs typeface="Arial" pitchFamily="34" charset="-120"/>
              </a:rPr>
              <a:t>If this resonated and you want help navigating any of these transitions — from vibes to SDD, from SDD to Living Context, from unstructured to structured, from hope to EDD, or rethinking how you decompose work entirely —</a:t>
            </a:r>
            <a:endParaRPr lang="en-US" sz="2250" dirty="0"/>
          </a:p>
        </p:txBody>
      </p:sp>
      <p:sp>
        <p:nvSpPr>
          <p:cNvPr id="5" name="Text 3"/>
          <p:cNvSpPr/>
          <p:nvPr/>
        </p:nvSpPr>
        <p:spPr>
          <a:xfrm>
            <a:off x="1047750" y="5387280"/>
            <a:ext cx="16764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FFFFFF"/>
                </a:solidFill>
                <a:latin typeface="Arial" pitchFamily="34" charset="0"/>
                <a:ea typeface="Arial" pitchFamily="34" charset="-122"/>
                <a:cs typeface="Arial" pitchFamily="34" charset="-120"/>
              </a:rPr>
              <a:t>Improving helps organizations build these systems. We've done it at scale across a 2,000-person consulting firm.</a:t>
            </a:r>
            <a:endParaRPr lang="en-US" sz="1800" dirty="0"/>
          </a:p>
        </p:txBody>
      </p:sp>
      <p:sp>
        <p:nvSpPr>
          <p:cNvPr id="6" name="Text 4"/>
          <p:cNvSpPr/>
          <p:nvPr/>
        </p:nvSpPr>
        <p:spPr>
          <a:xfrm>
            <a:off x="1047750" y="6377880"/>
            <a:ext cx="17811750" cy="495300"/>
          </a:xfrm>
          <a:prstGeom prst="rect">
            <a:avLst/>
          </a:prstGeom>
          <a:noFill/>
          <a:ln/>
        </p:spPr>
        <p:txBody>
          <a:bodyPr wrap="square" lIns="25400" tIns="25400" rIns="25400" bIns="25400" rtlCol="0" anchor="t">
            <a:normAutofit/>
          </a:bodyPr>
          <a:lstStyle/>
          <a:p>
            <a:pPr algn="l" indent="0" marL="0">
              <a:lnSpc>
                <a:spcPct val="129730"/>
              </a:lnSpc>
              <a:buNone/>
            </a:pPr>
            <a:r>
              <a:rPr lang="en-US" sz="2400" b="1" dirty="0">
                <a:solidFill>
                  <a:srgbClr val="FFFFFF"/>
                </a:solidFill>
                <a:latin typeface="Arial" pitchFamily="34" charset="0"/>
                <a:ea typeface="Arial" pitchFamily="34" charset="-122"/>
                <a:cs typeface="Arial" pitchFamily="34" charset="-120"/>
              </a:rPr>
              <a:t>Tim Rayburn</a:t>
            </a:r>
            <a:endParaRPr lang="en-US" sz="2400" dirty="0"/>
          </a:p>
        </p:txBody>
      </p:sp>
      <p:sp>
        <p:nvSpPr>
          <p:cNvPr id="7" name="Text 5"/>
          <p:cNvSpPr/>
          <p:nvPr/>
        </p:nvSpPr>
        <p:spPr>
          <a:xfrm>
            <a:off x="1047750" y="6968430"/>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Global Head of AI Training, Improving · 11-time Microsoft MVP</a:t>
            </a:r>
            <a:endParaRPr lang="en-US" sz="1800" dirty="0"/>
          </a:p>
        </p:txBody>
      </p:sp>
      <p:sp>
        <p:nvSpPr>
          <p:cNvPr id="8" name="Text 6"/>
          <p:cNvSpPr/>
          <p:nvPr/>
        </p:nvSpPr>
        <p:spPr>
          <a:xfrm>
            <a:off x="1047750" y="7597080"/>
            <a:ext cx="2789716"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4597D3"/>
                </a:solidFill>
                <a:latin typeface="Arial" pitchFamily="34" charset="0"/>
                <a:ea typeface="Arial" pitchFamily="34" charset="-122"/>
                <a:cs typeface="Arial" pitchFamily="34" charset="-120"/>
              </a:rPr>
              <a:t>trayburn@improving.com</a:t>
            </a:r>
            <a:endParaRPr lang="en-US" sz="1800" dirty="0"/>
          </a:p>
        </p:txBody>
      </p:sp>
      <p:sp>
        <p:nvSpPr>
          <p:cNvPr id="9" name="Text 7"/>
          <p:cNvSpPr/>
          <p:nvPr/>
        </p:nvSpPr>
        <p:spPr>
          <a:xfrm>
            <a:off x="4117256" y="7597080"/>
            <a:ext cx="241269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4597D3"/>
                </a:solidFill>
                <a:latin typeface="Arial" pitchFamily="34" charset="0"/>
                <a:ea typeface="Arial" pitchFamily="34" charset="-122"/>
                <a:cs typeface="Arial" pitchFamily="34" charset="-120"/>
              </a:rPr>
              <a:t>WhatsApp: @trayburn</a:t>
            </a:r>
            <a:endParaRPr lang="en-US" sz="1800" dirty="0"/>
          </a:p>
        </p:txBody>
      </p:sp>
      <p:sp>
        <p:nvSpPr>
          <p:cNvPr id="10" name="Text 8"/>
          <p:cNvSpPr/>
          <p:nvPr/>
        </p:nvSpPr>
        <p:spPr>
          <a:xfrm>
            <a:off x="6844010" y="7597080"/>
            <a:ext cx="2715637"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4597D3"/>
                </a:solidFill>
                <a:latin typeface="Arial" pitchFamily="34" charset="0"/>
                <a:ea typeface="Arial" pitchFamily="34" charset="-122"/>
                <a:cs typeface="Arial" pitchFamily="34" charset="-120"/>
              </a:rPr>
              <a:t>linkedin.com/in/trayburn</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41F"/>
        </a:solidFill>
      </p:bgPr>
    </p:bg>
    <p:spTree>
      <p:nvGrpSpPr>
        <p:cNvPr id="1" name=""/>
        <p:cNvGrpSpPr/>
        <p:nvPr/>
      </p:nvGrpSpPr>
      <p:grpSpPr>
        <a:xfrm>
          <a:off x="0" y="0"/>
          <a:ext cx="0" cy="0"/>
          <a:chOff x="0" y="0"/>
          <a:chExt cx="0" cy="0"/>
        </a:xfrm>
      </p:grpSpPr>
      <p:sp>
        <p:nvSpPr>
          <p:cNvPr id="2" name="Text 0"/>
          <p:cNvSpPr/>
          <p:nvPr/>
        </p:nvSpPr>
        <p:spPr>
          <a:xfrm>
            <a:off x="1295400" y="2042740"/>
            <a:ext cx="15697200" cy="1683990"/>
          </a:xfrm>
          <a:prstGeom prst="rect">
            <a:avLst/>
          </a:prstGeom>
          <a:noFill/>
          <a:ln/>
        </p:spPr>
        <p:txBody>
          <a:bodyPr wrap="square" lIns="25400" tIns="25400" rIns="25400" bIns="25400" rtlCol="0" anchor="t">
            <a:normAutofit/>
          </a:bodyPr>
          <a:lstStyle/>
          <a:p>
            <a:pPr algn="ctr" indent="0" marL="0">
              <a:lnSpc>
                <a:spcPct val="104096"/>
              </a:lnSpc>
              <a:buNone/>
            </a:pPr>
            <a:r>
              <a:rPr lang="en-US" sz="5400" b="1" spc="-54" kern="0" dirty="0">
                <a:solidFill>
                  <a:srgbClr val="FFFFFF"/>
                </a:solidFill>
                <a:latin typeface="Arial" pitchFamily="34" charset="0"/>
                <a:ea typeface="Arial" pitchFamily="34" charset="-122"/>
                <a:cs typeface="Arial" pitchFamily="34" charset="-120"/>
              </a:rPr>
              <a:t>Vibes Aren't a Strategy. Context Engineering Is.</a:t>
            </a:r>
            <a:endParaRPr lang="en-US" sz="5400" dirty="0"/>
          </a:p>
        </p:txBody>
      </p:sp>
      <p:sp>
        <p:nvSpPr>
          <p:cNvPr id="3" name="Text 1"/>
          <p:cNvSpPr/>
          <p:nvPr/>
        </p:nvSpPr>
        <p:spPr>
          <a:xfrm>
            <a:off x="5432922" y="4298231"/>
            <a:ext cx="7422081"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A specification that makes wrong implementations unrepresentable</a:t>
            </a:r>
            <a:endParaRPr lang="en-US" sz="1800" dirty="0"/>
          </a:p>
        </p:txBody>
      </p:sp>
      <p:sp>
        <p:nvSpPr>
          <p:cNvPr id="4" name="Text 2"/>
          <p:cNvSpPr/>
          <p:nvPr/>
        </p:nvSpPr>
        <p:spPr>
          <a:xfrm>
            <a:off x="5432922" y="4831631"/>
            <a:ext cx="7422081"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Living context that survives across sessions and agents</a:t>
            </a:r>
            <a:endParaRPr lang="en-US" sz="1800" dirty="0"/>
          </a:p>
        </p:txBody>
      </p:sp>
      <p:sp>
        <p:nvSpPr>
          <p:cNvPr id="5" name="Text 3"/>
          <p:cNvSpPr/>
          <p:nvPr/>
        </p:nvSpPr>
        <p:spPr>
          <a:xfrm>
            <a:off x="5432922" y="5365031"/>
            <a:ext cx="7422081" cy="381000"/>
          </a:xfrm>
          <a:prstGeom prst="rect">
            <a:avLst/>
          </a:prstGeom>
          <a:noFill/>
          <a:ln/>
        </p:spPr>
        <p:txBody>
          <a:bodyPr wrap="square" lIns="25400" tIns="25400" rIns="25400" bIns="25400" rtlCol="0" anchor="t">
            <a:normAutofit/>
          </a:bodyPr>
          <a:lstStyle/>
          <a:p>
            <a:pPr algn="ctr" indent="0" marL="0">
              <a:lnSpc>
                <a:spcPct val="130909"/>
              </a:lnSpc>
              <a:buNone/>
            </a:pPr>
            <a:r>
              <a:rPr lang="en-US" sz="1800" dirty="0">
                <a:solidFill>
                  <a:srgbClr val="AEC0CE"/>
                </a:solidFill>
                <a:latin typeface="Arial" pitchFamily="34" charset="0"/>
                <a:ea typeface="Arial" pitchFamily="34" charset="-122"/>
                <a:cs typeface="Arial" pitchFamily="34" charset="-120"/>
              </a:rPr>
              <a:t>Evaluation that turns hope into evidence</a:t>
            </a:r>
            <a:endParaRPr lang="en-US" sz="1800" dirty="0"/>
          </a:p>
        </p:txBody>
      </p:sp>
      <p:sp>
        <p:nvSpPr>
          <p:cNvPr id="6" name="Text 4"/>
          <p:cNvSpPr/>
          <p:nvPr/>
        </p:nvSpPr>
        <p:spPr>
          <a:xfrm>
            <a:off x="1295400" y="6469931"/>
            <a:ext cx="15697200" cy="1812429"/>
          </a:xfrm>
          <a:prstGeom prst="rect">
            <a:avLst/>
          </a:prstGeom>
          <a:noFill/>
          <a:ln/>
        </p:spPr>
        <p:txBody>
          <a:bodyPr wrap="square" lIns="25400" tIns="25400" rIns="25400" bIns="25400" rtlCol="0" anchor="t">
            <a:normAutofit/>
          </a:bodyPr>
          <a:lstStyle/>
          <a:p>
            <a:pPr algn="ctr" indent="0" marL="0">
              <a:lnSpc>
                <a:spcPct val="118286"/>
              </a:lnSpc>
              <a:buNone/>
            </a:pPr>
            <a:r>
              <a:rPr lang="en-US" sz="3450" spc="-34" kern="0" dirty="0">
                <a:solidFill>
                  <a:srgbClr val="4597D3"/>
                </a:solidFill>
                <a:latin typeface="Arial" pitchFamily="34" charset="0"/>
                <a:ea typeface="Arial" pitchFamily="34" charset="-122"/>
                <a:cs typeface="Arial" pitchFamily="34" charset="-120"/>
              </a:rPr>
              <a:t>"The quality of what AI produces is a direct function of the quality of the context you provide. Engineer the context, and you engineer the outcome."</a:t>
            </a:r>
            <a:endParaRPr lang="en-US" sz="3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A26"/>
        </a:solidFill>
      </p:bgPr>
    </p:bg>
    <p:spTree>
      <p:nvGrpSpPr>
        <p:cNvPr id="1" name=""/>
        <p:cNvGrpSpPr/>
        <p:nvPr/>
      </p:nvGrpSpPr>
      <p:grpSpPr>
        <a:xfrm>
          <a:off x="0" y="0"/>
          <a:ext cx="0" cy="0"/>
          <a:chOff x="0" y="0"/>
          <a:chExt cx="0" cy="0"/>
        </a:xfrm>
      </p:grpSpPr>
      <p:sp>
        <p:nvSpPr>
          <p:cNvPr id="2" name="Text 0"/>
          <p:cNvSpPr/>
          <p:nvPr/>
        </p:nvSpPr>
        <p:spPr>
          <a:xfrm>
            <a:off x="1047750" y="2665884"/>
            <a:ext cx="17811750" cy="323850"/>
          </a:xfrm>
          <a:prstGeom prst="rect">
            <a:avLst/>
          </a:prstGeom>
          <a:noFill/>
          <a:ln/>
        </p:spPr>
        <p:txBody>
          <a:bodyPr wrap="square" lIns="25400" tIns="25400" rIns="25400" bIns="25400" rtlCol="0" anchor="t">
            <a:normAutofit/>
          </a:bodyPr>
          <a:lstStyle/>
          <a:p>
            <a:pPr algn="l" indent="0" marL="0">
              <a:lnSpc>
                <a:spcPct val="109091"/>
              </a:lnSpc>
              <a:buNone/>
            </a:pPr>
            <a:r>
              <a:rPr lang="en-US" sz="1800" b="1" spc="180" kern="0" dirty="0">
                <a:solidFill>
                  <a:srgbClr val="6F8393"/>
                </a:solidFill>
                <a:latin typeface="Arial" pitchFamily="34" charset="0"/>
                <a:ea typeface="Arial" pitchFamily="34" charset="-122"/>
                <a:cs typeface="Arial" pitchFamily="34" charset="-120"/>
              </a:rPr>
              <a:t>APPENDIX — Q&amp;A REFERENCE</a:t>
            </a:r>
            <a:endParaRPr lang="en-US" sz="1800" dirty="0"/>
          </a:p>
        </p:txBody>
      </p:sp>
      <p:sp>
        <p:nvSpPr>
          <p:cNvPr id="3" name="Text 1"/>
          <p:cNvSpPr/>
          <p:nvPr/>
        </p:nvSpPr>
        <p:spPr>
          <a:xfrm>
            <a:off x="1047750" y="3370734"/>
            <a:ext cx="17811750" cy="592782"/>
          </a:xfrm>
          <a:prstGeom prst="rect">
            <a:avLst/>
          </a:prstGeom>
          <a:noFill/>
          <a:ln/>
        </p:spPr>
        <p:txBody>
          <a:bodyPr wrap="square" lIns="25400" tIns="25400" rIns="25400" bIns="25400" rtlCol="0" anchor="t">
            <a:normAutofit/>
          </a:bodyPr>
          <a:lstStyle/>
          <a:p>
            <a:pPr algn="l" indent="0" marL="0">
              <a:lnSpc>
                <a:spcPct val="97882"/>
              </a:lnSpc>
              <a:buNone/>
            </a:pPr>
            <a:r>
              <a:rPr lang="en-US" sz="3900" b="1" spc="-39" kern="0" dirty="0">
                <a:solidFill>
                  <a:srgbClr val="FFFFFF"/>
                </a:solidFill>
                <a:latin typeface="Arial" pitchFamily="34" charset="0"/>
                <a:ea typeface="Arial" pitchFamily="34" charset="-122"/>
                <a:cs typeface="Arial" pitchFamily="34" charset="-120"/>
              </a:rPr>
              <a:t>Back-Pocket Questions</a:t>
            </a:r>
            <a:endParaRPr lang="en-US" sz="3900" dirty="0"/>
          </a:p>
        </p:txBody>
      </p:sp>
      <p:sp>
        <p:nvSpPr>
          <p:cNvPr id="4" name="Text 2"/>
          <p:cNvSpPr/>
          <p:nvPr/>
        </p:nvSpPr>
        <p:spPr>
          <a:xfrm>
            <a:off x="1047750" y="4344516"/>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How do you decide when a spec is "good enough" to start generating?</a:t>
            </a:r>
            <a:endParaRPr lang="en-US" sz="1800" dirty="0"/>
          </a:p>
        </p:txBody>
      </p:sp>
      <p:sp>
        <p:nvSpPr>
          <p:cNvPr id="5" name="Text 3"/>
          <p:cNvSpPr/>
          <p:nvPr/>
        </p:nvSpPr>
        <p:spPr>
          <a:xfrm>
            <a:off x="1047750" y="4858866"/>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Is EARS realistic for a team that's never used structured requirements?</a:t>
            </a:r>
            <a:endParaRPr lang="en-US" sz="1800" dirty="0"/>
          </a:p>
        </p:txBody>
      </p:sp>
      <p:sp>
        <p:nvSpPr>
          <p:cNvPr id="6" name="Text 4"/>
          <p:cNvSpPr/>
          <p:nvPr/>
        </p:nvSpPr>
        <p:spPr>
          <a:xfrm>
            <a:off x="1047750" y="5373216"/>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What's the minimum viable change to move from vibes to context engineering tomorrow?</a:t>
            </a:r>
            <a:endParaRPr lang="en-US" sz="1800" dirty="0"/>
          </a:p>
        </p:txBody>
      </p:sp>
      <p:sp>
        <p:nvSpPr>
          <p:cNvPr id="7" name="Text 5"/>
          <p:cNvSpPr/>
          <p:nvPr/>
        </p:nvSpPr>
        <p:spPr>
          <a:xfrm>
            <a:off x="1047750" y="5887566"/>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How do you prevent agents from drifting from the spec over a long project?</a:t>
            </a:r>
            <a:endParaRPr lang="en-US" sz="1800" dirty="0"/>
          </a:p>
        </p:txBody>
      </p:sp>
      <p:sp>
        <p:nvSpPr>
          <p:cNvPr id="8" name="Text 6"/>
          <p:cNvSpPr/>
          <p:nvPr/>
        </p:nvSpPr>
        <p:spPr>
          <a:xfrm>
            <a:off x="1047750" y="6401916"/>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What about behaviors that are hard to test deterministically — code quality, architecture alignment?</a:t>
            </a:r>
            <a:endParaRPr lang="en-US" sz="1800" dirty="0"/>
          </a:p>
        </p:txBody>
      </p:sp>
      <p:sp>
        <p:nvSpPr>
          <p:cNvPr id="9" name="Text 7"/>
          <p:cNvSpPr/>
          <p:nvPr/>
        </p:nvSpPr>
        <p:spPr>
          <a:xfrm>
            <a:off x="1047750" y="6916266"/>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How does this work for brownfield projects with no existing specs?</a:t>
            </a:r>
            <a:endParaRPr lang="en-US" sz="1800" dirty="0"/>
          </a:p>
        </p:txBody>
      </p:sp>
      <p:sp>
        <p:nvSpPr>
          <p:cNvPr id="10" name="Text 8"/>
          <p:cNvSpPr/>
          <p:nvPr/>
        </p:nvSpPr>
        <p:spPr>
          <a:xfrm>
            <a:off x="1047750" y="7430616"/>
            <a:ext cx="1781175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AEC0CE"/>
                </a:solidFill>
                <a:latin typeface="Arial" pitchFamily="34" charset="0"/>
                <a:ea typeface="Arial" pitchFamily="34" charset="-122"/>
                <a:cs typeface="Arial" pitchFamily="34" charset="-120"/>
              </a:rPr>
              <a:t>What's the biggest mistake teams make when adopting an SDD framework like BMAD?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2026-08-15T15:21:11Z</dcterms:created>
  <dcterms:modified xsi:type="dcterms:W3CDTF">2026-08-15T15:21:11Z</dcterms:modified>
</cp:coreProperties>
</file>